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3.svg" ContentType="image/svg+xml"/>
  <Override PartName="/ppt/media/image15.svg" ContentType="image/svg+xml"/>
  <Override PartName="/ppt/media/image17.svg" ContentType="image/svg+xml"/>
  <Override PartName="/ppt/media/image26.svg" ContentType="image/svg+xml"/>
  <Override PartName="/ppt/media/image28.svg" ContentType="image/svg+xml"/>
  <Override PartName="/ppt/media/image3.svg" ContentType="image/svg+xml"/>
  <Override PartName="/ppt/media/image30.svg" ContentType="image/svg+xml"/>
  <Override PartName="/ppt/media/image34.svg" ContentType="image/svg+xml"/>
  <Override PartName="/ppt/media/image36.svg" ContentType="image/svg+xml"/>
  <Override PartName="/ppt/media/image38.svg" ContentType="image/svg+xml"/>
  <Override PartName="/ppt/media/image5.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24"/>
    <p:sldId id="267" r:id="rId25"/>
    <p:sldId id="268" r:id="rId26"/>
    <p:sldId id="269" r:id="rId27"/>
    <p:sldId id="270" r:id="rId28"/>
    <p:sldId id="271" r:id="rId29"/>
  </p:sldIdLst>
  <p:sldSz cx="18288000" cy="10287000"/>
  <p:notesSz cx="6858000" cy="9144000"/>
  <p:embeddedFontLst>
    <p:embeddedFont>
      <p:font typeface="Zcool QingKe HuangYou" charset="1" panose="00000500000000000000"/>
      <p:regular r:id="rId16"/>
    </p:embeddedFont>
    <p:embeddedFont>
      <p:font typeface="Inter" charset="1" panose="020B0502030000000004"/>
      <p:regular r:id="rId17"/>
    </p:embeddedFont>
    <p:embeddedFont>
      <p:font typeface="Inter Bold" charset="1" panose="020B0802030000000004"/>
      <p:regular r:id="rId18"/>
    </p:embeddedFont>
    <p:embeddedFont>
      <p:font typeface="Open Sans Bold" charset="1" panose="00000000000000000000"/>
      <p:regular r:id="rId19"/>
    </p:embeddedFont>
    <p:embeddedFont>
      <p:font typeface="TT Lakes Neue Bold" charset="1" panose="02010001040000080307"/>
      <p:regular r:id="rId20"/>
    </p:embeddedFont>
    <p:embeddedFont>
      <p:font typeface="Open Sans" charset="1" panose="00000000000000000000"/>
      <p:regular r:id="rId21"/>
    </p:embeddedFont>
    <p:embeddedFont>
      <p:font typeface="Canva Sans" charset="1" panose="020B05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notesMaster" Target="notesMasters/notesMaster1.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مقدمة في أساسيات الأمن</a:t>
            </a:r>
          </a:p>
          <a:p>
            <a:r>
              <a:t>في هذا القسم من الدورة، سنركز على أساسيات الأمن.</a:t>
            </a:r>
          </a:p>
          <a:p>
            <a:r>
              <a:t>الآن، قبل أن نتمكن من التعمق في أي مناقشات فنية حول عمليات حقن SQL أو اختراق كلمات المرور أو تأمين أنظمة مؤسستك عن طريق تكوين جدران الحماية الخاصة بك، نحتاج أولاً إلى تغطية بعض الأساسيات التي يجب عليك فهمها.</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تحديات حماية الأنظمة</a:t>
            </a:r>
          </a:p>
          <a:p>
            <a:r>
              <a:t>الآن، باعتبارك متخصصًا في الأمن السيبراني، ستجد أنه من الصعب حقًا ضمان أمان شبكاتك وأنظمتك.</a:t>
            </a:r>
          </a:p>
          <a:p>
            <a:r>
              <a:t>الآن، هذا أمر صعب، ليس فقط لأن لدينا جهات فاعلة سيئة تحاول اختراق شبكاتنا وسرقة بياناتنا السرية، ولكن أيضًا، إنه صعب لأن لدينا تهديدات داخلية أيضًا مثل المستخدمين النهائيين الذين يحاولون غالبًا تجاوز بياناتنا. ضوابط الأمن الداخلي كذلك.</a:t>
            </a:r>
          </a:p>
          <a:p>
            <a:r>
              <a:t>لماذا، حسنًا، لأنه سيكون هناك دائمًا احتكاك بين أمان الشبكة وسهولة الاستخدام أو الراحة لهذه الشبكة.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معضلة الأمن مقابل الراحة</a:t>
            </a:r>
          </a:p>
          <a:p>
            <a:r>
              <a:t>الآن، اسمحوا لي أن أقدم لكم مثالاً سريعًا هنا حتى تتمكن من الارتباط به على الأرجح.</a:t>
            </a:r>
          </a:p>
          <a:p>
            <a:r>
              <a:t>الآن، في منزلك، من المحتمل أن يكون لديك اتصال بالإنترنت من مزود الكابل الخاص بك، أو شركة الهاتف، أو أي مزود خدمة إنترنت تابع لجهة خارجية.</a:t>
            </a:r>
          </a:p>
          <a:p>
            <a:r>
              <a:t>بغض النظر عن الجهاز الذي لديك، ترسل لك معظم هذه الشركات جهازًا واحدًا يحتوي على المودم بالإضافة إلى جهاز توجيه بداخله يوفر وصولاً لاسلكيًا إلى جميع أنحاء منزلك حتى تتمكن من الحصول على نقطة وصول Wi-Fi هناك.</a:t>
            </a:r>
          </a:p>
          <a:p>
            <a:r>
              <a:t>الآن، افتراضيًا، سيعطيك مزود خدمة الإنترنت كلمة مرور محددة مسبقًا والتي تكون طويلة جدًا ومعقدة في معظم الحالات.</a:t>
            </a:r>
          </a:p>
          <a:p>
            <a:r>
              <a:t>على واجهة جهازي مثلا يوجد ملصق الشركة مكتوب عليه اسم الشبكة اللاسلكية وكلمة المرور مثل الشبكة اللاسلكية: ATT142DFE وكلمة مرور طويلة وقوية 3%1WT&amp;! 92#SXH.</a:t>
            </a:r>
          </a:p>
          <a:p>
            <a:r>
              <a:t>الآن، لا أعرف شيئًا عنك، لكن هذه كلمة مرور طويلة جدًا ومعقدة المظهر.</a:t>
            </a:r>
          </a:p>
          <a:p>
            <a:r>
              <a:t>الآن، سيقوم معظم المستخدمين ببساطة بتغيير كلمة المرور هذه إلى شيء أسهل في التذكر.</a:t>
            </a:r>
          </a:p>
          <a:p>
            <a:r>
              <a:t>مثل Magic2912 أو كب كيك رقم 1 أو شيء من هذا القبيل.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تكلفة التضحية بالأمان</a:t>
            </a:r>
          </a:p>
          <a:p>
            <a:r>
              <a:t>الآن، على الرغم من أن هذا يعد أمرًا رائعًا من حيث الراحة وسهولة الاستخدام، إلا أنه يقلل بالفعل من مستوى الأمان لديك لأنه من الأسهل على المهاجم الإلكتروني اختراق كلمة المرور هذه لأنها قصيرة وتستخدم كلمات القاموس بداخلها.</a:t>
            </a:r>
          </a:p>
          <a:p>
            <a:r>
              <a:t>لكن كلما كانت كلمة المرور أطول وأكثر تعقيدًا، وهي عادة ما تكون أكثر أمانًا، يصعب حفظها حقًا.</a:t>
            </a:r>
          </a:p>
          <a:p>
            <a:r>
              <a:t>وهذا أيضًا يجلب نقطة ضعف خطيرة أخرى، وهي حقيقتها مطبوعة مباشرة على مقدمة المودم ليتمكن أي شخص يمر بالقرب منها من رؤيتها وكتابتها.</a:t>
            </a:r>
          </a:p>
          <a:p>
            <a:r>
              <a:t>الآن، حقيقة الأمر هو أنه مع الأمان وسهولة الاستخدام، سنكون دائمًا على خلاف بين هذين الأمرين.</a:t>
            </a:r>
          </a:p>
          <a:p>
            <a:r>
              <a:t>حتى إذا قمت بإنشاء النظام الأكثر أمانًا في العالم، فسيحاول المستخدمون النهائيون تجاوز تلك القيود التي وضعتها لأنها تجعل إكمال مهمتهم اليومية أكثر صعوبة.</a:t>
            </a:r>
          </a:p>
          <a:p>
            <a:r>
              <a:t>لذا تذكر أن مستخدمينا النهائيين هم أشخاص، والأشخاص يريدون الأمور سهلة، ويريدونها مريحة.</a:t>
            </a:r>
          </a:p>
          <a:p>
            <a:r>
              <a:t>ولكن عندما نوفر لهم المزيد من الراحة، فسنضطر عادةً إلى تخفيف وضعنا الأمني قليلاً، والعكس صحيح.</a:t>
            </a:r>
          </a:p>
          <a:p>
            <a:r>
              <a:t>إذا حاولنا زيادة الأمان أكثر من اللازم، سنجعل الأمور صعبة للغاية وصعبة جدًا على مستخدمينا لدرجة أنهم سيأخذون كل مستوى الراحة هذا وسيحاولون إيجاد طرق للتغلب على ما قمنا به.</a:t>
            </a:r>
          </a:p>
          <a:p>
            <a:r>
              <a:t>الآن، باعتبارنا متخصصين في الأمن السيبراني، يعد هذا توازنًا تشغيليًا دقيقًا نتعامل معه دائمًا داخل مؤسساتنا.</a:t>
            </a:r>
          </a:p>
          <a:p>
            <a:r>
              <a:t>يتعين على مؤسساتنا محاربة هذا التحدي طوال الوقت لتكون قادرة على دعم الراحة التي يريدها مستخدمونا مع منحهم المزيد من الأمان.</a:t>
            </a:r>
          </a:p>
          <a:p>
            <a:r>
              <a:t>وهذا أحد الأسباب وراء استمرارنا في التعرض للهجمات الإلكترونية وانتهاكات البيانات حتى يومنا هذا.</a:t>
            </a:r>
          </a:p>
          <a:p>
            <a:r>
              <a:t>الآن، في عام 2022، أنفقت الشركة الكبرى المتوسطة التي تعرضت لاختراق البيانات 4.35 مليون دولار لكل خرق للبيانات.</a:t>
            </a:r>
          </a:p>
          <a:p>
            <a:r>
              <a:t>وهذا رقم مذهل وكبير، ولكن السبب وراء ذلك هو أن لدينا مقايضة الأمن مقابل الراحة التي تحدث وقد اختار الناس الأشياء الخاطئة للمقايضة.</a:t>
            </a:r>
          </a:p>
          <a:p>
            <a:r>
              <a:t>الآن، يمكننا أن نجعل الأمور أسهل لمستخدمينا حتى يتمكنوا من إنجاز عملهم على أساس يومي، ولكن مع التأكد من أن الأمر يمثل تحديًا كافيًا بحيث لا يتمكن ممثلو التهديد لدينا من اختراق شبكاتنا.</a:t>
            </a:r>
          </a:p>
          <a:p>
            <a:r>
              <a:t>وهذا هو الحلم، هذا هو المكان الجميل الذي نحاول الحصول عليه.</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أمن المعلومات</a:t>
            </a:r>
          </a:p>
          <a:p>
            <a:r>
              <a:t>لذلك، في هذا القسم من الدورة، سنبدأ بتغطية أساسيات الأمن وقبل أن نفعل ذلك، نحتاج إلى تغطية تعريفين مهمين.</a:t>
            </a:r>
          </a:p>
          <a:p>
            <a:r>
              <a:t>الآن، عندما تعمل كمحترف في مجال الأمن السيبراني، سوف تسمع الناس يتحدثون عن مصطلحين رئيسيين عندما نتحدث عن الأمن.</a:t>
            </a:r>
          </a:p>
          <a:p>
            <a:r>
              <a:t>نتحدث عن هذه مثل أمن المعلومات وأمن نظام المعلومات.</a:t>
            </a:r>
          </a:p>
          <a:p>
            <a:r>
              <a:t>الآن، من المهم معرفة الفرق لأن هذين المصطلحين مختلفان.</a:t>
            </a:r>
          </a:p>
          <a:p>
            <a:r>
              <a:t>أمن المعلومات هو عملية حماية البيانات والمعلومات من الوصول غير المصرح به، والتعديل والتعطيل غير القانوني، والإفصاح أو الفساد، والتدمير.</a:t>
            </a:r>
          </a:p>
          <a:p>
            <a:r>
              <a:t>ببساطة، عندما نتحدث عن أمن المعلومات، فإننا نتحدث عن البيانات التي تحتفظ بها الأنظمة، وليس الأنظمة نفسها.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أمن أنظمة المعلومات</a:t>
            </a:r>
          </a:p>
          <a:p>
            <a:r>
              <a:t>الآن، من ناحية أخرى، لدينا أمن نظام المعلومات، وهو حماية الأنظمة التي تحتفظ ببياناتنا الهامة وتعالجها.</a:t>
            </a:r>
          </a:p>
          <a:p>
            <a:r>
              <a:t>يمكن أن يكون ذلك جهاز كمبيوتر أو خادمًا أو جهاز شبكة أو حتى هاتفك الذكي.</a:t>
            </a:r>
          </a:p>
          <a:p>
            <a:r>
              <a:t>تذكر، إذا كان شخص ما يتحدث عن حماية البيانات نفسها، فهو يتحدث عن أمن المعلومات، ولكن إذا كانوا يتحدثون عن الأجهزة التي تحتوي على البيانات، فإننا نتحدث الآن عن أمن نظام المعلومات.</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أهداف الدورة للمجال الأول</a:t>
            </a:r>
          </a:p>
          <a:p>
            <a:r>
              <a:t>الآن، في هذا القسم، سنركز على المجال 1 وعلى وجه التحديد الأهداف 1.1 و 1.2.</a:t>
            </a:r>
          </a:p>
          <a:p>
            <a:r>
              <a:t>الهدف 1.1 ينص على أنه يجب أن تكون قادرًا على المقارنة والتباين بين أنواع مختلفة من ضوابط الأمان.</a:t>
            </a:r>
          </a:p>
          <a:p>
            <a:r>
              <a:t>والهدف 1.2 ينص على أنه يجب أن تكون قادرًا على تلخيص مفاهيم الأمان الأساسية.</a:t>
            </a:r>
          </a:p>
          <a:p>
            <a:r>
              <a:t>وэто ما كنت أتحدث عنه عندما ذكرت أنهم لا يضعون دائمًا الأهداف في الترتيب الصحيح.</a:t>
            </a:r>
          </a:p>
          <a:p>
            <a:r>
              <a:t>لأن الشيء الذي نحتاج إلى تعلمه أولاً هو في الواقع الهدف 1.2 قبل أن نتمكن من تغطية 1.1.</a:t>
            </a:r>
          </a:p>
          <a:p>
            <a:r>
              <a:t>وهذا بالضبط ما سنفعله في هذا القسم.</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ثالوث الحماية (CIA Triad)</a:t>
            </a:r>
          </a:p>
          <a:p>
            <a:r>
              <a:t>لذا، عندما نبدأ هذا القسم، سنبدأ بالهدف 1.2 وسنبدأ أولاً بتغطية CIA ثالوث.</a:t>
            </a:r>
          </a:p>
          <a:p>
            <a:r>
              <a:t>الآن، CIA يمثل الثالوث السرية والنزاهة والتوافر، وهذه هي الركائز الثلاث للأمن.</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السرية والنزاهة</a:t>
            </a:r>
          </a:p>
          <a:p>
            <a:r>
              <a:t>تضمن السرية عدم إمكانية الوصول إلى المعلومات إلا لمن لديهم التفويض المناسب.</a:t>
            </a:r>
          </a:p>
          <a:p>
            <a:r>
              <a:t>على سبيل المثال، إذا قمت بتشفير ملفات حساسة للسماح للأشخاص فقط بقراءتها وفك تشفيرها، فهذه هي السرية.</a:t>
            </a:r>
          </a:p>
          <a:p>
            <a:r>
              <a:t>الآن، ستضمن النزاهة بقاء البيانات دقيقة وغير قابلة للتغيير ما لم يكن التعديل مطلوبًا.</a:t>
            </a:r>
          </a:p>
          <a:p>
            <a:r>
              <a:t>على سبيل المثال، يمكن استخدام المجاميع الاختبارية للتحقق من عدم تغيير الملف أو تلفه أثناء تحركه على طول شبكتنا أثناء نقل البيانات.</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التوافر وعدم التنصل</a:t>
            </a:r>
          </a:p>
          <a:p>
            <a:r>
              <a:t>يضمن التوفر إمكانية الوصول إلى موارد المعلومات وتشغيلها عند الحاجة إليها من قبل المستخدمين المصرح لهم.</a:t>
            </a:r>
          </a:p>
          <a:p>
            <a:r>
              <a:t>لذلك، من الأمثلة الجيدة على التوفر هو موقع الويب الخاص بك عندما تقوم بتنفيذ إجراءات التكرار لضمان بقائه متصلاً بالإنترنت ومفعلًا في أي وقت بغض النظر عن مقدار حركة المرور التي يتلقاها.</a:t>
            </a:r>
          </a:p>
          <a:p>
            <a:r>
              <a:t>لذلك، حتى لو كانت لديك فترة ذات حركة مرور عالية، فسيكون قادرًا على التعامل مع ذلك بسبب التكرار الخاص بك وهذا يمنحك توفرًا جيدًا.</a:t>
            </a:r>
          </a:p>
          <a:p>
            <a:r>
              <a:t>بعد ذلك، سنغطي مفهوم عدم التنصل.</a:t>
            </a:r>
          </a:p>
          <a:p>
            <a:r>
              <a:t>عدم التنصل يعني ضمان حدوث إجراء أو حدث معين ولا يمكن للأطراف المعنية إنكاره.</a:t>
            </a:r>
          </a:p>
          <a:p>
            <a:r>
              <a:t>على سبيل المثال، إذا أرسلت إليك بريدًا إلكترونيًا وقمت بالتوقيع عليه رقميًا، فسيضمن ذلك عدم قدرتي على رفض إرسال تلك الرسالة المحددة إليك لأن توقيعي الرقمي مرفق بها.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التطور إلى نموذج C.I.A.N.A</a:t>
            </a:r>
          </a:p>
          <a:p>
            <a:r>
              <a:t>الآن، في الأيام الخوالي، كنا نتحدث دائمًا، كمحترفين في مجال الأمن السيبراني، عن لغة CIA ثالوث.</a:t>
            </a:r>
          </a:p>
          <a:p>
            <a:r>
              <a:t>لكن في السنوات الأخيرة، أضفنا إليه شيئين جديدين، N وA، وهما عدم الإنكار والمصادقة.</a:t>
            </a:r>
          </a:p>
          <a:p>
            <a:r>
              <a:t>وهذا يجعله في أساس شكلًا خماسيًا أكثر من كونه ثلاثيًا.</a:t>
            </a:r>
          </a:p>
          <a:p>
            <a:r>
              <a:t>لأن الآن لدينا C.I.A.N.A، وهو عبارة عن خمسة أحرف وشكل خماسي الأضلاع هو شكل خماسي.</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إطار عمل AAA - المصادقة</a:t>
            </a:r>
          </a:p>
          <a:p>
            <a:r>
              <a:t>الآن، مع إدخال هذه المصادقة إلى C.I.A.N.A، ننتقل الآن إلى هذا المجال من إجراءات الأمان AAA، والتي نسميها المصادقة والترخيص والمحاسبة.</a:t>
            </a:r>
          </a:p>
          <a:p>
            <a:r>
              <a:t>الآن، المصادقة هي عملية التحقق من هوية المستخدم أو النظام.</a:t>
            </a:r>
          </a:p>
          <a:p>
            <a:r>
              <a:t>على سبيل المثال، عندما تحاول تسجيل الدخول للوصول إلى بريدك الإلكتروني، يتم التحقق من اسم المستخدم وكلمة المرور الخاصين بك مقابل نسخة مخزنة لتأكيد هويتك.</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التفويض والمحاسبة</a:t>
            </a:r>
          </a:p>
          <a:p>
            <a:r>
              <a:t>الآن، بمجرد أن تتم مصادقتك بناءً على هويتك، ننتقل بعد ذلك إلى التفويض.</a:t>
            </a:r>
          </a:p>
          <a:p>
            <a:r>
              <a:t>ويحدد التفويض الإجراءات أو الموارد التي يمتلك المستخدم المصادق أذونات لتنفيذها.</a:t>
            </a:r>
          </a:p>
          <a:p>
            <a:r>
              <a:t>على سبيل المثال، في قاعدة بيانات الشركة، قد يكون لديك كموظف ترخيص لعرض السجلات، ولكن قد لا يكون لديك ترخيص لتحريرها فعليًا.</a:t>
            </a:r>
          </a:p>
          <a:p>
            <a:r>
              <a:t>إذن لديك أذونات القراءة، ولكن ليس لديك أذونات الكتابة أو التحرير.</a:t>
            </a:r>
          </a:p>
          <a:p>
            <a:r>
              <a:t>الآن، المجال الثالث لدينا هو ما يعرف بالمحاسبة، والمحاسبة هي عملية تتبع أنشطة المستخدم واستخدام الموارد.</a:t>
            </a:r>
          </a:p>
          <a:p>
            <a:r>
              <a:t>وعادة ما نقوم بذلك لأغراض التدقيق أو إعداد الفواتير.</a:t>
            </a:r>
          </a:p>
          <a:p>
            <a:r>
              <a:t>لذلك عندما تقوم بتسجيل الدخول إلى جهاز الكمبيوتر الخاص بك، فإننا نقوم بالفعل بتسجيل ما تفعله.</a:t>
            </a:r>
          </a:p>
          <a:p>
            <a:r>
              <a:t>يتم تسجيل جميع أنشطة المستخدم على الشبكة لتتمكن من مراقبتها بحثًا عن سلوك غير عادي أو غير مصرح به.</a:t>
            </a:r>
          </a:p>
          <a:p>
            <a:r>
              <a:t>وسيكون ذلك مثالًا جيدًا للمحاسبة.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الضوابط الأمنية</a:t>
            </a:r>
          </a:p>
          <a:p>
            <a:r>
              <a:t>بعد ذلك، سنغطي فئات وأنواع التحكم الأمني المختلفة.</a:t>
            </a:r>
          </a:p>
          <a:p>
            <a:r>
              <a:t>أما الآن، فقد أصبحت الضوابط الأمنية عبارة عن تدابير أو آليات يتم وضعها للتخفيف من المخاطر وحماية سرية وسلامة وتوافر أنظمة المعلومات وبياناتها.</a:t>
            </a:r>
          </a:p>
          <a:p>
            <a:r>
              <a:t>يمكن تجميع عناصر التحكم الأمنية هذه في فئات، مثل عناصر التحكم الفنية والإدارية والتشغيلية والمادية.</a:t>
            </a:r>
          </a:p>
          <a:p>
            <a:r>
              <a:t>ويمكننا أيضًا مناقشة الأنواع المختلفة من عناصر التحكم الأمنية لدينا، مثل عناصر التحكم الوقائية والرادعة والمباحث والتصحيحية والتعويضية والتوجيهية.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نموذج الثقة المعدومة (Zero Trust)</a:t>
            </a:r>
          </a:p>
          <a:p>
            <a:r>
              <a:t>ثم سنناقش هذا المفهوم المعروف باسم الثقة المعدومة.</a:t>
            </a:r>
          </a:p>
          <a:p>
            <a:r>
              <a:t>الآن، الثقة المعدومة هي نموذج أمان أحدث يعمل على مبدأ أنه لا ينبغي الوثوق بأي شخص، سواء داخل مؤسستك أو خارجها، بشكل افتراضي.</a:t>
            </a:r>
          </a:p>
          <a:p>
            <a:r>
              <a:t>سيكون التحقق مطلوبًا من كل شخص يحاول الوصول إلى موارد نظامك.</a:t>
            </a:r>
          </a:p>
          <a:p>
            <a:r>
              <a:t>من أجل تحقيق الثقة الصفرية، علينا استخدام مستوى التحكم ومستوى البيانات.</a:t>
            </a:r>
          </a:p>
          <a:p>
            <a:r>
              <a:t>يتكون مستوى التحكم من الهوية التكيفية، والحد من نطاق التهديد، وضوابط الوصول المدفوعة بالسياسة، والمناطق الآمنة.</a:t>
            </a:r>
          </a:p>
          <a:p>
            <a:r>
              <a:t>ومن ناحية أخرى، ستركز خطة البيانات على الموضوع والنظام، ومحرك السياسة، ومسؤول السياسة، وإنشاء نقاط إنفاذ السياسة.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المراجعة والاختبار القصير</a:t>
            </a:r>
          </a:p>
          <a:p>
            <a:r>
              <a:t>أخيرًا، سنقوم بإجراء اختبار قصير لمعرفة ما تعلمته خلال هذا القسم من الدورة التدريبية.</a:t>
            </a:r>
          </a:p>
          <a:p>
            <a:r>
              <a:t>ومراجعة كل سؤال من أسئلة الاختبار هذه بشكل كامل للتأكد من أنه يمكنك شرح كل سؤال وسبب كون الإجابة الصحيحة صحيحة.</a:t>
            </a:r>
          </a:p>
          <a:p>
            <a:r>
              <a:t>لذلك دعونا نبدأ بالتعمق في أساسيات الأمان في هذا القسم من الدورة التدريبية.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2.png"/><Relationship Id="rId7" Type="http://schemas.openxmlformats.org/officeDocument/2006/relationships/image" Target="../media/image3.sv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4.png"/><Relationship Id="rId11" Type="http://schemas.openxmlformats.org/officeDocument/2006/relationships/image" Target="../media/image5.svg"/><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15.svg"/><Relationship Id="rId7" Type="http://schemas.openxmlformats.org/officeDocument/2006/relationships/image" Target="../media/image16.png"/><Relationship Id="rId8" Type="http://schemas.openxmlformats.org/officeDocument/2006/relationships/image" Target="../media/image17.svg"/><Relationship Id="rId9" Type="http://schemas.openxmlformats.org/officeDocument/2006/relationships/image" Target="../media/image18.jpeg"/><Relationship Id="rId10" Type="http://schemas.openxmlformats.org/officeDocument/2006/relationships/image" Target="../media/image2.png"/><Relationship Id="rId11" Type="http://schemas.openxmlformats.org/officeDocument/2006/relationships/image" Target="../media/image3.svg"/><Relationship Id="rId12" Type="http://schemas.openxmlformats.org/officeDocument/2006/relationships/image" Target="../media/image4.png"/><Relationship Id="rId13" Type="http://schemas.openxmlformats.org/officeDocument/2006/relationships/image" Target="../media/image5.svg"/><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9.jpeg"/><Relationship Id="rId6" Type="http://schemas.openxmlformats.org/officeDocument/2006/relationships/image" Target="../media/image20.jpeg"/><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image" Target="../media/image4.png"/><Relationship Id="rId10" Type="http://schemas.openxmlformats.org/officeDocument/2006/relationships/image" Target="../media/image5.svg"/><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1.jpe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2.png"/><Relationship Id="rId9" Type="http://schemas.openxmlformats.org/officeDocument/2006/relationships/image" Target="../media/image3.sv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22.jpeg"/><Relationship Id="rId4" Type="http://schemas.openxmlformats.org/officeDocument/2006/relationships/image" Target="../media/image23.jpe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png"/><Relationship Id="rId8" Type="http://schemas.openxmlformats.org/officeDocument/2006/relationships/image" Target="../media/image5.sv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30.svg"/><Relationship Id="rId11" Type="http://schemas.openxmlformats.org/officeDocument/2006/relationships/image" Target="../media/image4.png"/><Relationship Id="rId12" Type="http://schemas.openxmlformats.org/officeDocument/2006/relationships/image" Target="../media/image5.svg"/><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31.jpe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image" Target="../media/image4.png"/><Relationship Id="rId7" Type="http://schemas.openxmlformats.org/officeDocument/2006/relationships/image" Target="../media/image5.sv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33.png"/><Relationship Id="rId8" Type="http://schemas.openxmlformats.org/officeDocument/2006/relationships/image" Target="../media/image34.svg"/><Relationship Id="rId9" Type="http://schemas.openxmlformats.org/officeDocument/2006/relationships/image" Target="../media/image35.png"/><Relationship Id="rId10" Type="http://schemas.openxmlformats.org/officeDocument/2006/relationships/image" Target="../media/image36.svg"/><Relationship Id="rId11" Type="http://schemas.openxmlformats.org/officeDocument/2006/relationships/image" Target="../media/image37.png"/><Relationship Id="rId12" Type="http://schemas.openxmlformats.org/officeDocument/2006/relationships/image" Target="../media/image38.svg"/><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735477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91264" y="3572579"/>
            <a:ext cx="14905472" cy="2497438"/>
          </a:xfrm>
          <a:prstGeom prst="rect">
            <a:avLst/>
          </a:prstGeom>
        </p:spPr>
        <p:txBody>
          <a:bodyPr anchor="t" rtlCol="false" tIns="0" lIns="0" bIns="0" rIns="0">
            <a:spAutoFit/>
          </a:bodyPr>
          <a:lstStyle/>
          <a:p>
            <a:pPr algn="ctr">
              <a:lnSpc>
                <a:spcPts val="19114"/>
              </a:lnSpc>
            </a:pPr>
            <a:r>
              <a:rPr lang="en-US" sz="17376">
                <a:solidFill>
                  <a:srgbClr val="FFFFFF"/>
                </a:solidFill>
                <a:latin typeface="Zcool QingKe HuangYou"/>
                <a:ea typeface="Zcool QingKe HuangYou"/>
                <a:cs typeface="Zcool QingKe HuangYou"/>
                <a:sym typeface="Zcool QingKe HuangYou"/>
              </a:rPr>
              <a:t>CYBERSECURITY</a:t>
            </a:r>
          </a:p>
        </p:txBody>
      </p:sp>
      <p:grpSp>
        <p:nvGrpSpPr>
          <p:cNvPr name="Group 5" id="5"/>
          <p:cNvGrpSpPr/>
          <p:nvPr/>
        </p:nvGrpSpPr>
        <p:grpSpPr>
          <a:xfrm rot="5400000">
            <a:off x="16660024" y="42013"/>
            <a:ext cx="1481641" cy="740820"/>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7" id="7"/>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grpSp>
        <p:nvGrpSpPr>
          <p:cNvPr name="Group 8" id="8"/>
          <p:cNvGrpSpPr/>
          <p:nvPr/>
        </p:nvGrpSpPr>
        <p:grpSpPr>
          <a:xfrm rot="0">
            <a:off x="5015489" y="5937210"/>
            <a:ext cx="8242369" cy="767827"/>
            <a:chOff x="0" y="0"/>
            <a:chExt cx="7894419" cy="735413"/>
          </a:xfrm>
        </p:grpSpPr>
        <p:sp>
          <p:nvSpPr>
            <p:cNvPr name="Freeform 9" id="9"/>
            <p:cNvSpPr/>
            <p:nvPr/>
          </p:nvSpPr>
          <p:spPr>
            <a:xfrm flipH="false" flipV="false" rot="0">
              <a:off x="0" y="0"/>
              <a:ext cx="7894419" cy="735413"/>
            </a:xfrm>
            <a:custGeom>
              <a:avLst/>
              <a:gdLst/>
              <a:ahLst/>
              <a:cxnLst/>
              <a:rect r="r" b="b" t="t" l="l"/>
              <a:pathLst>
                <a:path h="735413" w="7894419">
                  <a:moveTo>
                    <a:pt x="203200" y="0"/>
                  </a:moveTo>
                  <a:lnTo>
                    <a:pt x="7894419" y="0"/>
                  </a:lnTo>
                  <a:lnTo>
                    <a:pt x="7691219" y="735413"/>
                  </a:lnTo>
                  <a:lnTo>
                    <a:pt x="0" y="735413"/>
                  </a:lnTo>
                  <a:lnTo>
                    <a:pt x="203200" y="0"/>
                  </a:lnTo>
                  <a:close/>
                </a:path>
              </a:pathLst>
            </a:custGeom>
            <a:gradFill rotWithShape="true">
              <a:gsLst>
                <a:gs pos="0">
                  <a:srgbClr val="002E34">
                    <a:alpha val="100000"/>
                  </a:srgbClr>
                </a:gs>
                <a:gs pos="100000">
                  <a:srgbClr val="5DC1D3">
                    <a:alpha val="100000"/>
                  </a:srgbClr>
                </a:gs>
              </a:gsLst>
              <a:lin ang="2700000"/>
            </a:gradFill>
          </p:spPr>
        </p:sp>
        <p:sp>
          <p:nvSpPr>
            <p:cNvPr name="TextBox 10" id="10"/>
            <p:cNvSpPr txBox="true"/>
            <p:nvPr/>
          </p:nvSpPr>
          <p:spPr>
            <a:xfrm>
              <a:off x="101600" y="19050"/>
              <a:ext cx="7691219" cy="716363"/>
            </a:xfrm>
            <a:prstGeom prst="rect">
              <a:avLst/>
            </a:prstGeom>
          </p:spPr>
          <p:txBody>
            <a:bodyPr anchor="ctr" rtlCol="false" tIns="50800" lIns="50800" bIns="50800" rIns="50800"/>
            <a:lstStyle/>
            <a:p>
              <a:pPr algn="ctr">
                <a:lnSpc>
                  <a:spcPts val="2750"/>
                </a:lnSpc>
              </a:pPr>
            </a:p>
          </p:txBody>
        </p:sp>
      </p:grpSp>
      <p:sp>
        <p:nvSpPr>
          <p:cNvPr name="Freeform 11" id="11"/>
          <p:cNvSpPr/>
          <p:nvPr/>
        </p:nvSpPr>
        <p:spPr>
          <a:xfrm flipH="false" flipV="false" rot="-10800000">
            <a:off x="16788598" y="2186985"/>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5">
              <a:alphaModFix amt="26000"/>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true" flipV="false" rot="-10800000">
            <a:off x="-4519755" y="2186985"/>
            <a:ext cx="6211019" cy="4114800"/>
          </a:xfrm>
          <a:custGeom>
            <a:avLst/>
            <a:gdLst/>
            <a:ahLst/>
            <a:cxnLst/>
            <a:rect r="r" b="b" t="t" l="l"/>
            <a:pathLst>
              <a:path h="4114800" w="6211019">
                <a:moveTo>
                  <a:pt x="6211019" y="0"/>
                </a:moveTo>
                <a:lnTo>
                  <a:pt x="0" y="0"/>
                </a:lnTo>
                <a:lnTo>
                  <a:pt x="0" y="4114800"/>
                </a:lnTo>
                <a:lnTo>
                  <a:pt x="6211019" y="4114800"/>
                </a:lnTo>
                <a:lnTo>
                  <a:pt x="6211019" y="0"/>
                </a:lnTo>
                <a:close/>
              </a:path>
            </a:pathLst>
          </a:custGeom>
          <a:blipFill>
            <a:blip r:embed="rId5">
              <a:alphaModFix amt="26000"/>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4706131" y="6003342"/>
            <a:ext cx="8802813" cy="530210"/>
          </a:xfrm>
          <a:prstGeom prst="rect">
            <a:avLst/>
          </a:prstGeom>
        </p:spPr>
        <p:txBody>
          <a:bodyPr anchor="t" rtlCol="false" tIns="0" lIns="0" bIns="0" rIns="0">
            <a:spAutoFit/>
          </a:bodyPr>
          <a:lstStyle/>
          <a:p>
            <a:pPr algn="ctr">
              <a:lnSpc>
                <a:spcPts val="4347"/>
              </a:lnSpc>
            </a:pPr>
            <a:r>
              <a:rPr lang="en-US" sz="3105">
                <a:solidFill>
                  <a:srgbClr val="FFFFFF"/>
                </a:solidFill>
                <a:latin typeface="Inter"/>
                <a:ea typeface="Inter"/>
                <a:cs typeface="Inter"/>
                <a:sym typeface="Inter"/>
              </a:rPr>
              <a:t>Threats, Strategies, and Future Trends</a:t>
            </a:r>
          </a:p>
        </p:txBody>
      </p:sp>
      <p:sp>
        <p:nvSpPr>
          <p:cNvPr name="TextBox 14" id="14"/>
          <p:cNvSpPr txBox="true"/>
          <p:nvPr/>
        </p:nvSpPr>
        <p:spPr>
          <a:xfrm rot="0">
            <a:off x="1028700" y="8618418"/>
            <a:ext cx="2017817" cy="363308"/>
          </a:xfrm>
          <a:prstGeom prst="rect">
            <a:avLst/>
          </a:prstGeom>
        </p:spPr>
        <p:txBody>
          <a:bodyPr anchor="t" rtlCol="false" tIns="0" lIns="0" bIns="0" rIns="0">
            <a:spAutoFit/>
          </a:bodyPr>
          <a:lstStyle/>
          <a:p>
            <a:pPr algn="l">
              <a:lnSpc>
                <a:spcPts val="2937"/>
              </a:lnSpc>
            </a:pPr>
            <a:r>
              <a:rPr lang="en-US" sz="2098">
                <a:solidFill>
                  <a:srgbClr val="FFFFFF"/>
                </a:solidFill>
                <a:latin typeface="Inter"/>
                <a:ea typeface="Inter"/>
                <a:cs typeface="Inter"/>
                <a:sym typeface="Inter"/>
              </a:rPr>
              <a:t>Presented by</a:t>
            </a:r>
          </a:p>
        </p:txBody>
      </p:sp>
      <p:sp>
        <p:nvSpPr>
          <p:cNvPr name="TextBox 15" id="15"/>
          <p:cNvSpPr txBox="true"/>
          <p:nvPr/>
        </p:nvSpPr>
        <p:spPr>
          <a:xfrm rot="0">
            <a:off x="16317897" y="8618418"/>
            <a:ext cx="941403" cy="365837"/>
          </a:xfrm>
          <a:prstGeom prst="rect">
            <a:avLst/>
          </a:prstGeom>
        </p:spPr>
        <p:txBody>
          <a:bodyPr anchor="t" rtlCol="false" tIns="0" lIns="0" bIns="0" rIns="0">
            <a:spAutoFit/>
          </a:bodyPr>
          <a:lstStyle/>
          <a:p>
            <a:pPr algn="r">
              <a:lnSpc>
                <a:spcPts val="2937"/>
              </a:lnSpc>
            </a:pPr>
            <a:r>
              <a:rPr lang="en-US" sz="2098">
                <a:solidFill>
                  <a:srgbClr val="FFFFFF"/>
                </a:solidFill>
                <a:latin typeface="Inter"/>
                <a:ea typeface="Inter"/>
                <a:cs typeface="Inter"/>
                <a:sym typeface="Inter"/>
              </a:rPr>
              <a:t>Date</a:t>
            </a:r>
          </a:p>
        </p:txBody>
      </p:sp>
      <p:sp>
        <p:nvSpPr>
          <p:cNvPr name="TextBox 16" id="16"/>
          <p:cNvSpPr txBox="true"/>
          <p:nvPr/>
        </p:nvSpPr>
        <p:spPr>
          <a:xfrm rot="0">
            <a:off x="1028700" y="9026985"/>
            <a:ext cx="3646522" cy="365942"/>
          </a:xfrm>
          <a:prstGeom prst="rect">
            <a:avLst/>
          </a:prstGeom>
        </p:spPr>
        <p:txBody>
          <a:bodyPr anchor="t" rtlCol="false" tIns="0" lIns="0" bIns="0" rIns="0">
            <a:spAutoFit/>
          </a:bodyPr>
          <a:lstStyle/>
          <a:p>
            <a:pPr algn="l">
              <a:lnSpc>
                <a:spcPts val="2937"/>
              </a:lnSpc>
            </a:pPr>
            <a:r>
              <a:rPr lang="en-US" sz="2098" b="true">
                <a:solidFill>
                  <a:srgbClr val="6FDBF3"/>
                </a:solidFill>
                <a:latin typeface="Inter Bold"/>
                <a:ea typeface="Inter Bold"/>
                <a:cs typeface="Inter Bold"/>
                <a:sym typeface="Inter Bold"/>
              </a:rPr>
              <a:t>Marceline Anderson</a:t>
            </a:r>
          </a:p>
        </p:txBody>
      </p:sp>
      <p:sp>
        <p:nvSpPr>
          <p:cNvPr name="TextBox 17" id="17"/>
          <p:cNvSpPr txBox="true"/>
          <p:nvPr/>
        </p:nvSpPr>
        <p:spPr>
          <a:xfrm rot="0">
            <a:off x="14395624" y="9026985"/>
            <a:ext cx="2863676" cy="365837"/>
          </a:xfrm>
          <a:prstGeom prst="rect">
            <a:avLst/>
          </a:prstGeom>
        </p:spPr>
        <p:txBody>
          <a:bodyPr anchor="t" rtlCol="false" tIns="0" lIns="0" bIns="0" rIns="0">
            <a:spAutoFit/>
          </a:bodyPr>
          <a:lstStyle/>
          <a:p>
            <a:pPr algn="r">
              <a:lnSpc>
                <a:spcPts val="2937"/>
              </a:lnSpc>
            </a:pPr>
            <a:r>
              <a:rPr lang="en-US" sz="2098" b="true">
                <a:solidFill>
                  <a:srgbClr val="6FDBF3"/>
                </a:solidFill>
                <a:latin typeface="Inter Bold"/>
                <a:ea typeface="Inter Bold"/>
                <a:cs typeface="Inter Bold"/>
                <a:sym typeface="Inter Bold"/>
              </a:rPr>
              <a:t>September 27</a:t>
            </a:r>
            <a:r>
              <a:rPr lang="en-US" sz="2098" b="true">
                <a:solidFill>
                  <a:srgbClr val="6FDBF3"/>
                </a:solidFill>
                <a:latin typeface="Inter Bold"/>
                <a:ea typeface="Inter Bold"/>
                <a:cs typeface="Inter Bold"/>
                <a:sym typeface="Inter Bold"/>
              </a:rPr>
              <a:t>th</a:t>
            </a:r>
            <a:r>
              <a:rPr lang="en-US" sz="2098" b="true">
                <a:solidFill>
                  <a:srgbClr val="6FDBF3"/>
                </a:solidFill>
                <a:latin typeface="Inter Bold"/>
                <a:ea typeface="Inter Bold"/>
                <a:cs typeface="Inter Bold"/>
                <a:sym typeface="Inter Bold"/>
              </a:rPr>
              <a:t>, 2090</a:t>
            </a:r>
          </a:p>
        </p:txBody>
      </p:sp>
      <p:sp>
        <p:nvSpPr>
          <p:cNvPr name="TextBox 18" id="18"/>
          <p:cNvSpPr txBox="true"/>
          <p:nvPr/>
        </p:nvSpPr>
        <p:spPr>
          <a:xfrm rot="0">
            <a:off x="8053813"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sp>
        <p:nvSpPr>
          <p:cNvPr name="TextBox 19" id="19"/>
          <p:cNvSpPr txBox="true"/>
          <p:nvPr/>
        </p:nvSpPr>
        <p:spPr>
          <a:xfrm rot="0">
            <a:off x="17044598" y="431473"/>
            <a:ext cx="712493" cy="355666"/>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197337" y="1781904"/>
            <a:ext cx="6408870" cy="3711747"/>
            <a:chOff x="0" y="0"/>
            <a:chExt cx="992902" cy="575047"/>
          </a:xfrm>
        </p:grpSpPr>
        <p:sp>
          <p:nvSpPr>
            <p:cNvPr name="Freeform 4" id="4"/>
            <p:cNvSpPr/>
            <p:nvPr/>
          </p:nvSpPr>
          <p:spPr>
            <a:xfrm flipH="false" flipV="false" rot="0">
              <a:off x="0" y="0"/>
              <a:ext cx="992902" cy="575047"/>
            </a:xfrm>
            <a:custGeom>
              <a:avLst/>
              <a:gdLst/>
              <a:ahLst/>
              <a:cxnLst/>
              <a:rect r="r" b="b" t="t" l="l"/>
              <a:pathLst>
                <a:path h="575047" w="992902">
                  <a:moveTo>
                    <a:pt x="0" y="0"/>
                  </a:moveTo>
                  <a:lnTo>
                    <a:pt x="992902" y="0"/>
                  </a:lnTo>
                  <a:lnTo>
                    <a:pt x="992902" y="575047"/>
                  </a:lnTo>
                  <a:lnTo>
                    <a:pt x="0" y="575047"/>
                  </a:lnTo>
                  <a:close/>
                </a:path>
              </a:pathLst>
            </a:custGeom>
            <a:blipFill>
              <a:blip r:embed="rId3"/>
              <a:stretch>
                <a:fillRect l="0" t="-7572" r="0" b="-7572"/>
              </a:stretch>
            </a:blipFill>
            <a:ln cap="sq">
              <a:noFill/>
              <a:prstDash val="solid"/>
              <a:miter/>
            </a:ln>
          </p:spPr>
        </p:sp>
      </p:grpSp>
      <p:grpSp>
        <p:nvGrpSpPr>
          <p:cNvPr name="Group 5" id="5"/>
          <p:cNvGrpSpPr/>
          <p:nvPr/>
        </p:nvGrpSpPr>
        <p:grpSpPr>
          <a:xfrm rot="0">
            <a:off x="1865614" y="3992619"/>
            <a:ext cx="473364" cy="473364"/>
            <a:chOff x="0" y="0"/>
            <a:chExt cx="124672" cy="124672"/>
          </a:xfrm>
        </p:grpSpPr>
        <p:sp>
          <p:nvSpPr>
            <p:cNvPr name="Freeform 6" id="6"/>
            <p:cNvSpPr/>
            <p:nvPr/>
          </p:nvSpPr>
          <p:spPr>
            <a:xfrm flipH="false" flipV="false" rot="0">
              <a:off x="0" y="0"/>
              <a:ext cx="124672" cy="124672"/>
            </a:xfrm>
            <a:custGeom>
              <a:avLst/>
              <a:gdLst/>
              <a:ahLst/>
              <a:cxnLst/>
              <a:rect r="r" b="b" t="t" l="l"/>
              <a:pathLst>
                <a:path h="124672" w="124672">
                  <a:moveTo>
                    <a:pt x="0" y="0"/>
                  </a:moveTo>
                  <a:lnTo>
                    <a:pt x="124672" y="0"/>
                  </a:lnTo>
                  <a:lnTo>
                    <a:pt x="124672" y="124672"/>
                  </a:lnTo>
                  <a:lnTo>
                    <a:pt x="0" y="124672"/>
                  </a:lnTo>
                  <a:close/>
                </a:path>
              </a:pathLst>
            </a:custGeom>
            <a:gradFill rotWithShape="true">
              <a:gsLst>
                <a:gs pos="0">
                  <a:srgbClr val="002E34">
                    <a:alpha val="100000"/>
                  </a:srgbClr>
                </a:gs>
                <a:gs pos="100000">
                  <a:srgbClr val="5DC1D3">
                    <a:alpha val="100000"/>
                  </a:srgbClr>
                </a:gs>
              </a:gsLst>
              <a:lin ang="0"/>
            </a:gradFill>
          </p:spPr>
        </p:sp>
        <p:sp>
          <p:nvSpPr>
            <p:cNvPr name="TextBox 7" id="7"/>
            <p:cNvSpPr txBox="true"/>
            <p:nvPr/>
          </p:nvSpPr>
          <p:spPr>
            <a:xfrm>
              <a:off x="0" y="19050"/>
              <a:ext cx="124672" cy="105622"/>
            </a:xfrm>
            <a:prstGeom prst="rect">
              <a:avLst/>
            </a:prstGeom>
          </p:spPr>
          <p:txBody>
            <a:bodyPr anchor="ctr" rtlCol="false" tIns="50800" lIns="50800" bIns="50800" rIns="50800"/>
            <a:lstStyle/>
            <a:p>
              <a:pPr algn="ctr">
                <a:lnSpc>
                  <a:spcPts val="2750"/>
                </a:lnSpc>
              </a:pPr>
            </a:p>
          </p:txBody>
        </p:sp>
      </p:grpSp>
      <p:grpSp>
        <p:nvGrpSpPr>
          <p:cNvPr name="Group 8" id="8"/>
          <p:cNvGrpSpPr/>
          <p:nvPr/>
        </p:nvGrpSpPr>
        <p:grpSpPr>
          <a:xfrm rot="0">
            <a:off x="10197337" y="6290051"/>
            <a:ext cx="473364" cy="473364"/>
            <a:chOff x="0" y="0"/>
            <a:chExt cx="124672" cy="124672"/>
          </a:xfrm>
        </p:grpSpPr>
        <p:sp>
          <p:nvSpPr>
            <p:cNvPr name="Freeform 9" id="9"/>
            <p:cNvSpPr/>
            <p:nvPr/>
          </p:nvSpPr>
          <p:spPr>
            <a:xfrm flipH="false" flipV="false" rot="0">
              <a:off x="0" y="0"/>
              <a:ext cx="124672" cy="124672"/>
            </a:xfrm>
            <a:custGeom>
              <a:avLst/>
              <a:gdLst/>
              <a:ahLst/>
              <a:cxnLst/>
              <a:rect r="r" b="b" t="t" l="l"/>
              <a:pathLst>
                <a:path h="124672" w="124672">
                  <a:moveTo>
                    <a:pt x="0" y="0"/>
                  </a:moveTo>
                  <a:lnTo>
                    <a:pt x="124672" y="0"/>
                  </a:lnTo>
                  <a:lnTo>
                    <a:pt x="124672" y="124672"/>
                  </a:lnTo>
                  <a:lnTo>
                    <a:pt x="0" y="124672"/>
                  </a:lnTo>
                  <a:close/>
                </a:path>
              </a:pathLst>
            </a:custGeom>
            <a:gradFill rotWithShape="true">
              <a:gsLst>
                <a:gs pos="0">
                  <a:srgbClr val="002E34">
                    <a:alpha val="100000"/>
                  </a:srgbClr>
                </a:gs>
                <a:gs pos="100000">
                  <a:srgbClr val="5DC1D3">
                    <a:alpha val="100000"/>
                  </a:srgbClr>
                </a:gs>
              </a:gsLst>
              <a:lin ang="0"/>
            </a:gradFill>
          </p:spPr>
        </p:sp>
        <p:sp>
          <p:nvSpPr>
            <p:cNvPr name="TextBox 10" id="10"/>
            <p:cNvSpPr txBox="true"/>
            <p:nvPr/>
          </p:nvSpPr>
          <p:spPr>
            <a:xfrm>
              <a:off x="0" y="19050"/>
              <a:ext cx="124672" cy="105622"/>
            </a:xfrm>
            <a:prstGeom prst="rect">
              <a:avLst/>
            </a:prstGeom>
          </p:spPr>
          <p:txBody>
            <a:bodyPr anchor="ctr" rtlCol="false" tIns="50800" lIns="50800" bIns="50800" rIns="50800"/>
            <a:lstStyle/>
            <a:p>
              <a:pPr algn="ctr">
                <a:lnSpc>
                  <a:spcPts val="2750"/>
                </a:lnSpc>
              </a:pPr>
            </a:p>
          </p:txBody>
        </p:sp>
      </p:grpSp>
      <p:sp>
        <p:nvSpPr>
          <p:cNvPr name="Freeform 11" id="11"/>
          <p:cNvSpPr/>
          <p:nvPr/>
        </p:nvSpPr>
        <p:spPr>
          <a:xfrm flipH="false" flipV="false" rot="0">
            <a:off x="2030108" y="4110960"/>
            <a:ext cx="144376" cy="236682"/>
          </a:xfrm>
          <a:custGeom>
            <a:avLst/>
            <a:gdLst/>
            <a:ahLst/>
            <a:cxnLst/>
            <a:rect r="r" b="b" t="t" l="l"/>
            <a:pathLst>
              <a:path h="236682" w="144376">
                <a:moveTo>
                  <a:pt x="0" y="0"/>
                </a:moveTo>
                <a:lnTo>
                  <a:pt x="144376" y="0"/>
                </a:lnTo>
                <a:lnTo>
                  <a:pt x="144376" y="236682"/>
                </a:lnTo>
                <a:lnTo>
                  <a:pt x="0" y="2366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361831" y="6408392"/>
            <a:ext cx="144376" cy="236682"/>
          </a:xfrm>
          <a:custGeom>
            <a:avLst/>
            <a:gdLst/>
            <a:ahLst/>
            <a:cxnLst/>
            <a:rect r="r" b="b" t="t" l="l"/>
            <a:pathLst>
              <a:path h="236682" w="144376">
                <a:moveTo>
                  <a:pt x="0" y="0"/>
                </a:moveTo>
                <a:lnTo>
                  <a:pt x="144376" y="0"/>
                </a:lnTo>
                <a:lnTo>
                  <a:pt x="144376" y="236682"/>
                </a:lnTo>
                <a:lnTo>
                  <a:pt x="0" y="2366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56330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5400000">
            <a:off x="16660024" y="42013"/>
            <a:ext cx="1481641" cy="740820"/>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16" id="16"/>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grpSp>
        <p:nvGrpSpPr>
          <p:cNvPr name="Group 17" id="17"/>
          <p:cNvGrpSpPr/>
          <p:nvPr/>
        </p:nvGrpSpPr>
        <p:grpSpPr>
          <a:xfrm rot="0">
            <a:off x="1865614" y="6290051"/>
            <a:ext cx="2869501" cy="2736100"/>
            <a:chOff x="0" y="0"/>
            <a:chExt cx="812800" cy="775013"/>
          </a:xfrm>
        </p:grpSpPr>
        <p:sp>
          <p:nvSpPr>
            <p:cNvPr name="Freeform 18" id="18"/>
            <p:cNvSpPr/>
            <p:nvPr/>
          </p:nvSpPr>
          <p:spPr>
            <a:xfrm flipH="false" flipV="false" rot="0">
              <a:off x="0" y="0"/>
              <a:ext cx="812800" cy="775013"/>
            </a:xfrm>
            <a:custGeom>
              <a:avLst/>
              <a:gdLst/>
              <a:ahLst/>
              <a:cxnLst/>
              <a:rect r="r" b="b" t="t" l="l"/>
              <a:pathLst>
                <a:path h="775013" w="812800">
                  <a:moveTo>
                    <a:pt x="0" y="0"/>
                  </a:moveTo>
                  <a:lnTo>
                    <a:pt x="812800" y="0"/>
                  </a:lnTo>
                  <a:lnTo>
                    <a:pt x="812800" y="775013"/>
                  </a:lnTo>
                  <a:lnTo>
                    <a:pt x="0" y="775013"/>
                  </a:lnTo>
                  <a:close/>
                </a:path>
              </a:pathLst>
            </a:custGeom>
            <a:ln w="19050" cap="sq">
              <a:solidFill>
                <a:srgbClr val="98AAB6"/>
              </a:solidFill>
              <a:prstDash val="solid"/>
              <a:miter/>
            </a:ln>
          </p:spPr>
        </p:sp>
        <p:sp>
          <p:nvSpPr>
            <p:cNvPr name="TextBox 19" id="19"/>
            <p:cNvSpPr txBox="true"/>
            <p:nvPr/>
          </p:nvSpPr>
          <p:spPr>
            <a:xfrm>
              <a:off x="0" y="19050"/>
              <a:ext cx="812800" cy="755963"/>
            </a:xfrm>
            <a:prstGeom prst="rect">
              <a:avLst/>
            </a:prstGeom>
          </p:spPr>
          <p:txBody>
            <a:bodyPr anchor="ctr" rtlCol="false" tIns="50800" lIns="50800" bIns="50800" rIns="50800"/>
            <a:lstStyle/>
            <a:p>
              <a:pPr algn="ctr">
                <a:lnSpc>
                  <a:spcPts val="2750"/>
                </a:lnSpc>
              </a:pPr>
            </a:p>
          </p:txBody>
        </p:sp>
      </p:grpSp>
      <p:grpSp>
        <p:nvGrpSpPr>
          <p:cNvPr name="Group 20" id="20"/>
          <p:cNvGrpSpPr/>
          <p:nvPr/>
        </p:nvGrpSpPr>
        <p:grpSpPr>
          <a:xfrm rot="0">
            <a:off x="5619650" y="6290051"/>
            <a:ext cx="2869501" cy="2736100"/>
            <a:chOff x="0" y="0"/>
            <a:chExt cx="812800" cy="775013"/>
          </a:xfrm>
        </p:grpSpPr>
        <p:sp>
          <p:nvSpPr>
            <p:cNvPr name="Freeform 21" id="21"/>
            <p:cNvSpPr/>
            <p:nvPr/>
          </p:nvSpPr>
          <p:spPr>
            <a:xfrm flipH="false" flipV="false" rot="0">
              <a:off x="0" y="0"/>
              <a:ext cx="812800" cy="775013"/>
            </a:xfrm>
            <a:custGeom>
              <a:avLst/>
              <a:gdLst/>
              <a:ahLst/>
              <a:cxnLst/>
              <a:rect r="r" b="b" t="t" l="l"/>
              <a:pathLst>
                <a:path h="775013" w="812800">
                  <a:moveTo>
                    <a:pt x="0" y="0"/>
                  </a:moveTo>
                  <a:lnTo>
                    <a:pt x="812800" y="0"/>
                  </a:lnTo>
                  <a:lnTo>
                    <a:pt x="812800" y="775013"/>
                  </a:lnTo>
                  <a:lnTo>
                    <a:pt x="0" y="775013"/>
                  </a:lnTo>
                  <a:close/>
                </a:path>
              </a:pathLst>
            </a:custGeom>
            <a:ln w="19050" cap="sq">
              <a:solidFill>
                <a:srgbClr val="98AAB6"/>
              </a:solidFill>
              <a:prstDash val="solid"/>
              <a:miter/>
            </a:ln>
          </p:spPr>
        </p:sp>
        <p:sp>
          <p:nvSpPr>
            <p:cNvPr name="TextBox 22" id="22"/>
            <p:cNvSpPr txBox="true"/>
            <p:nvPr/>
          </p:nvSpPr>
          <p:spPr>
            <a:xfrm>
              <a:off x="0" y="19050"/>
              <a:ext cx="812800" cy="755963"/>
            </a:xfrm>
            <a:prstGeom prst="rect">
              <a:avLst/>
            </a:prstGeom>
          </p:spPr>
          <p:txBody>
            <a:bodyPr anchor="ctr" rtlCol="false" tIns="50800" lIns="50800" bIns="50800" rIns="50800"/>
            <a:lstStyle/>
            <a:p>
              <a:pPr algn="ctr">
                <a:lnSpc>
                  <a:spcPts val="2750"/>
                </a:lnSpc>
              </a:pPr>
            </a:p>
          </p:txBody>
        </p:sp>
      </p:grpSp>
      <p:pic>
        <p:nvPicPr>
          <p:cNvPr name="Picture 23" id="23"/>
          <p:cNvPicPr>
            <a:picLocks noChangeAspect="true"/>
          </p:cNvPicPr>
          <p:nvPr/>
        </p:nvPicPr>
        <p:blipFill>
          <a:blip r:embed="rId8"/>
          <a:stretch>
            <a:fillRect/>
          </a:stretch>
        </p:blipFill>
        <p:spPr>
          <a:xfrm rot="0">
            <a:off x="2345914" y="6980750"/>
            <a:ext cx="1908902" cy="1908902"/>
          </a:xfrm>
          <a:prstGeom prst="rect">
            <a:avLst/>
          </a:prstGeom>
        </p:spPr>
      </p:pic>
      <p:pic>
        <p:nvPicPr>
          <p:cNvPr name="Picture 24" id="24"/>
          <p:cNvPicPr>
            <a:picLocks noChangeAspect="true"/>
          </p:cNvPicPr>
          <p:nvPr/>
        </p:nvPicPr>
        <p:blipFill>
          <a:blip r:embed="rId9"/>
          <a:stretch>
            <a:fillRect/>
          </a:stretch>
        </p:blipFill>
        <p:spPr>
          <a:xfrm rot="0">
            <a:off x="6099949" y="6980750"/>
            <a:ext cx="1908902" cy="1908902"/>
          </a:xfrm>
          <a:prstGeom prst="rect">
            <a:avLst/>
          </a:prstGeom>
        </p:spPr>
      </p:pic>
      <p:sp>
        <p:nvSpPr>
          <p:cNvPr name="TextBox 25" id="25"/>
          <p:cNvSpPr txBox="true"/>
          <p:nvPr/>
        </p:nvSpPr>
        <p:spPr>
          <a:xfrm rot="0">
            <a:off x="1865614" y="1715996"/>
            <a:ext cx="6798108" cy="1705124"/>
          </a:xfrm>
          <a:prstGeom prst="rect">
            <a:avLst/>
          </a:prstGeom>
        </p:spPr>
        <p:txBody>
          <a:bodyPr anchor="t" rtlCol="false" tIns="0" lIns="0" bIns="0" rIns="0">
            <a:spAutoFit/>
          </a:bodyPr>
          <a:lstStyle/>
          <a:p>
            <a:pPr algn="l">
              <a:lnSpc>
                <a:spcPts val="6600"/>
              </a:lnSpc>
            </a:pPr>
            <a:r>
              <a:rPr lang="en-US" sz="6000" b="true">
                <a:solidFill>
                  <a:srgbClr val="FFFFFF"/>
                </a:solidFill>
                <a:latin typeface="TT Lakes Neue Bold"/>
                <a:ea typeface="TT Lakes Neue Bold"/>
                <a:cs typeface="TT Lakes Neue Bold"/>
                <a:sym typeface="TT Lakes Neue Bold"/>
              </a:rPr>
              <a:t>Introduction to </a:t>
            </a:r>
          </a:p>
          <a:p>
            <a:pPr algn="l">
              <a:lnSpc>
                <a:spcPts val="6600"/>
              </a:lnSpc>
            </a:pPr>
            <a:r>
              <a:rPr lang="en-US" sz="6000" b="true">
                <a:solidFill>
                  <a:srgbClr val="FFFFFF"/>
                </a:solidFill>
                <a:latin typeface="TT Lakes Neue Bold"/>
                <a:ea typeface="TT Lakes Neue Bold"/>
                <a:cs typeface="TT Lakes Neue Bold"/>
                <a:sym typeface="TT Lakes Neue Bold"/>
              </a:rPr>
              <a:t>Cybersecurity</a:t>
            </a:r>
          </a:p>
        </p:txBody>
      </p:sp>
      <p:sp>
        <p:nvSpPr>
          <p:cNvPr name="TextBox 26" id="26"/>
          <p:cNvSpPr txBox="true"/>
          <p:nvPr/>
        </p:nvSpPr>
        <p:spPr>
          <a:xfrm rot="0">
            <a:off x="10931180" y="6358425"/>
            <a:ext cx="1707570" cy="355666"/>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HACKER</a:t>
            </a:r>
          </a:p>
        </p:txBody>
      </p:sp>
      <p:sp>
        <p:nvSpPr>
          <p:cNvPr name="TextBox 27" id="27"/>
          <p:cNvSpPr txBox="true"/>
          <p:nvPr/>
        </p:nvSpPr>
        <p:spPr>
          <a:xfrm rot="0">
            <a:off x="17044598" y="431473"/>
            <a:ext cx="712493"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02</a:t>
            </a:r>
          </a:p>
        </p:txBody>
      </p:sp>
      <p:sp>
        <p:nvSpPr>
          <p:cNvPr name="TextBox 28" id="28"/>
          <p:cNvSpPr txBox="true"/>
          <p:nvPr/>
        </p:nvSpPr>
        <p:spPr>
          <a:xfrm rot="0">
            <a:off x="2635633" y="4028749"/>
            <a:ext cx="2290328" cy="355563"/>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FIREWALL</a:t>
            </a:r>
          </a:p>
        </p:txBody>
      </p:sp>
      <p:sp>
        <p:nvSpPr>
          <p:cNvPr name="TextBox 29" id="29"/>
          <p:cNvSpPr txBox="true"/>
          <p:nvPr/>
        </p:nvSpPr>
        <p:spPr>
          <a:xfrm rot="0">
            <a:off x="2061932" y="6611307"/>
            <a:ext cx="2476865" cy="319268"/>
          </a:xfrm>
          <a:prstGeom prst="rect">
            <a:avLst/>
          </a:prstGeom>
        </p:spPr>
        <p:txBody>
          <a:bodyPr anchor="t" rtlCol="false" tIns="0" lIns="0" bIns="0" rIns="0">
            <a:spAutoFit/>
          </a:bodyPr>
          <a:lstStyle/>
          <a:p>
            <a:pPr algn="ctr">
              <a:lnSpc>
                <a:spcPts val="2454"/>
              </a:lnSpc>
            </a:pPr>
            <a:r>
              <a:rPr lang="en-US" b="true" sz="2231">
                <a:solidFill>
                  <a:srgbClr val="FFFFFF"/>
                </a:solidFill>
                <a:latin typeface="Open Sans Bold"/>
                <a:ea typeface="Open Sans Bold"/>
                <a:cs typeface="Open Sans Bold"/>
                <a:sym typeface="Open Sans Bold"/>
              </a:rPr>
              <a:t>PROTECTION 1</a:t>
            </a:r>
          </a:p>
        </p:txBody>
      </p:sp>
      <p:sp>
        <p:nvSpPr>
          <p:cNvPr name="TextBox 30" id="30"/>
          <p:cNvSpPr txBox="true"/>
          <p:nvPr/>
        </p:nvSpPr>
        <p:spPr>
          <a:xfrm rot="0">
            <a:off x="5815967" y="6611307"/>
            <a:ext cx="2476865" cy="319268"/>
          </a:xfrm>
          <a:prstGeom prst="rect">
            <a:avLst/>
          </a:prstGeom>
        </p:spPr>
        <p:txBody>
          <a:bodyPr anchor="t" rtlCol="false" tIns="0" lIns="0" bIns="0" rIns="0">
            <a:spAutoFit/>
          </a:bodyPr>
          <a:lstStyle/>
          <a:p>
            <a:pPr algn="ctr">
              <a:lnSpc>
                <a:spcPts val="2454"/>
              </a:lnSpc>
            </a:pPr>
            <a:r>
              <a:rPr lang="en-US" b="true" sz="2231">
                <a:solidFill>
                  <a:srgbClr val="FFFFFF"/>
                </a:solidFill>
                <a:latin typeface="Open Sans Bold"/>
                <a:ea typeface="Open Sans Bold"/>
                <a:cs typeface="Open Sans Bold"/>
                <a:sym typeface="Open Sans Bold"/>
              </a:rPr>
              <a:t>PROTECTION 2</a:t>
            </a:r>
          </a:p>
        </p:txBody>
      </p:sp>
      <p:sp>
        <p:nvSpPr>
          <p:cNvPr name="TextBox 31" id="31"/>
          <p:cNvSpPr txBox="true"/>
          <p:nvPr/>
        </p:nvSpPr>
        <p:spPr>
          <a:xfrm rot="0">
            <a:off x="10251218" y="7014938"/>
            <a:ext cx="6354989" cy="165671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32" id="32"/>
          <p:cNvSpPr txBox="true"/>
          <p:nvPr/>
        </p:nvSpPr>
        <p:spPr>
          <a:xfrm rot="0">
            <a:off x="1865614" y="4723862"/>
            <a:ext cx="6508367" cy="98996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 incididunt ut labore et dolore magna aliqua. Ut enim ad minim veniam.</a:t>
            </a:r>
          </a:p>
        </p:txBody>
      </p:sp>
      <p:sp>
        <p:nvSpPr>
          <p:cNvPr name="TextBox 33" id="33"/>
          <p:cNvSpPr txBox="true"/>
          <p:nvPr/>
        </p:nvSpPr>
        <p:spPr>
          <a:xfrm rot="0">
            <a:off x="1309968"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sp>
        <p:nvSpPr>
          <p:cNvPr name="Freeform 34" id="34"/>
          <p:cNvSpPr/>
          <p:nvPr/>
        </p:nvSpPr>
        <p:spPr>
          <a:xfrm flipH="false" flipV="false" rot="-10800000">
            <a:off x="14404045" y="7935201"/>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10">
              <a:alphaModFix amt="2600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823505" y="2194433"/>
            <a:ext cx="903555" cy="903555"/>
            <a:chOff x="0" y="0"/>
            <a:chExt cx="237973" cy="237973"/>
          </a:xfrm>
        </p:grpSpPr>
        <p:sp>
          <p:nvSpPr>
            <p:cNvPr name="Freeform 4" id="4"/>
            <p:cNvSpPr/>
            <p:nvPr/>
          </p:nvSpPr>
          <p:spPr>
            <a:xfrm flipH="false" flipV="false" rot="0">
              <a:off x="0" y="0"/>
              <a:ext cx="237973" cy="237973"/>
            </a:xfrm>
            <a:custGeom>
              <a:avLst/>
              <a:gdLst/>
              <a:ahLst/>
              <a:cxnLst/>
              <a:rect r="r" b="b" t="t" l="l"/>
              <a:pathLst>
                <a:path h="237973" w="237973">
                  <a:moveTo>
                    <a:pt x="0" y="0"/>
                  </a:moveTo>
                  <a:lnTo>
                    <a:pt x="237973" y="0"/>
                  </a:lnTo>
                  <a:lnTo>
                    <a:pt x="237973" y="237973"/>
                  </a:lnTo>
                  <a:lnTo>
                    <a:pt x="0" y="237973"/>
                  </a:lnTo>
                  <a:close/>
                </a:path>
              </a:pathLst>
            </a:custGeom>
            <a:gradFill rotWithShape="true">
              <a:gsLst>
                <a:gs pos="0">
                  <a:srgbClr val="002E34">
                    <a:alpha val="100000"/>
                  </a:srgbClr>
                </a:gs>
                <a:gs pos="100000">
                  <a:srgbClr val="5DC1D3">
                    <a:alpha val="100000"/>
                  </a:srgbClr>
                </a:gs>
              </a:gsLst>
              <a:lin ang="2700000"/>
            </a:gradFill>
          </p:spPr>
        </p:sp>
        <p:sp>
          <p:nvSpPr>
            <p:cNvPr name="TextBox 5" id="5"/>
            <p:cNvSpPr txBox="true"/>
            <p:nvPr/>
          </p:nvSpPr>
          <p:spPr>
            <a:xfrm>
              <a:off x="0" y="19050"/>
              <a:ext cx="237973" cy="218923"/>
            </a:xfrm>
            <a:prstGeom prst="rect">
              <a:avLst/>
            </a:prstGeom>
          </p:spPr>
          <p:txBody>
            <a:bodyPr anchor="ctr" rtlCol="false" tIns="50800" lIns="50800" bIns="50800" rIns="50800"/>
            <a:lstStyle/>
            <a:p>
              <a:pPr algn="ctr">
                <a:lnSpc>
                  <a:spcPts val="2750"/>
                </a:lnSpc>
              </a:pPr>
            </a:p>
          </p:txBody>
        </p:sp>
      </p:grpSp>
      <p:grpSp>
        <p:nvGrpSpPr>
          <p:cNvPr name="Group 6" id="6"/>
          <p:cNvGrpSpPr/>
          <p:nvPr/>
        </p:nvGrpSpPr>
        <p:grpSpPr>
          <a:xfrm rot="0">
            <a:off x="1852080" y="4410623"/>
            <a:ext cx="903555" cy="903555"/>
            <a:chOff x="0" y="0"/>
            <a:chExt cx="237973" cy="237973"/>
          </a:xfrm>
        </p:grpSpPr>
        <p:sp>
          <p:nvSpPr>
            <p:cNvPr name="Freeform 7" id="7"/>
            <p:cNvSpPr/>
            <p:nvPr/>
          </p:nvSpPr>
          <p:spPr>
            <a:xfrm flipH="false" flipV="false" rot="0">
              <a:off x="0" y="0"/>
              <a:ext cx="237973" cy="237973"/>
            </a:xfrm>
            <a:custGeom>
              <a:avLst/>
              <a:gdLst/>
              <a:ahLst/>
              <a:cxnLst/>
              <a:rect r="r" b="b" t="t" l="l"/>
              <a:pathLst>
                <a:path h="237973" w="237973">
                  <a:moveTo>
                    <a:pt x="0" y="0"/>
                  </a:moveTo>
                  <a:lnTo>
                    <a:pt x="237973" y="0"/>
                  </a:lnTo>
                  <a:lnTo>
                    <a:pt x="237973" y="237973"/>
                  </a:lnTo>
                  <a:lnTo>
                    <a:pt x="0" y="237973"/>
                  </a:lnTo>
                  <a:close/>
                </a:path>
              </a:pathLst>
            </a:custGeom>
            <a:gradFill rotWithShape="true">
              <a:gsLst>
                <a:gs pos="0">
                  <a:srgbClr val="002E34">
                    <a:alpha val="100000"/>
                  </a:srgbClr>
                </a:gs>
                <a:gs pos="100000">
                  <a:srgbClr val="5DC1D3">
                    <a:alpha val="100000"/>
                  </a:srgbClr>
                </a:gs>
              </a:gsLst>
              <a:lin ang="2700000"/>
            </a:gradFill>
          </p:spPr>
        </p:sp>
        <p:sp>
          <p:nvSpPr>
            <p:cNvPr name="TextBox 8" id="8"/>
            <p:cNvSpPr txBox="true"/>
            <p:nvPr/>
          </p:nvSpPr>
          <p:spPr>
            <a:xfrm>
              <a:off x="0" y="19050"/>
              <a:ext cx="237973" cy="218923"/>
            </a:xfrm>
            <a:prstGeom prst="rect">
              <a:avLst/>
            </a:prstGeom>
          </p:spPr>
          <p:txBody>
            <a:bodyPr anchor="ctr" rtlCol="false" tIns="50800" lIns="50800" bIns="50800" rIns="50800"/>
            <a:lstStyle/>
            <a:p>
              <a:pPr algn="ctr">
                <a:lnSpc>
                  <a:spcPts val="2750"/>
                </a:lnSpc>
              </a:pPr>
            </a:p>
          </p:txBody>
        </p:sp>
      </p:grpSp>
      <p:grpSp>
        <p:nvGrpSpPr>
          <p:cNvPr name="Group 9" id="9"/>
          <p:cNvGrpSpPr/>
          <p:nvPr/>
        </p:nvGrpSpPr>
        <p:grpSpPr>
          <a:xfrm rot="0">
            <a:off x="10400873" y="7341800"/>
            <a:ext cx="903555" cy="903555"/>
            <a:chOff x="0" y="0"/>
            <a:chExt cx="237973" cy="237973"/>
          </a:xfrm>
        </p:grpSpPr>
        <p:sp>
          <p:nvSpPr>
            <p:cNvPr name="Freeform 10" id="10"/>
            <p:cNvSpPr/>
            <p:nvPr/>
          </p:nvSpPr>
          <p:spPr>
            <a:xfrm flipH="false" flipV="false" rot="0">
              <a:off x="0" y="0"/>
              <a:ext cx="237973" cy="237973"/>
            </a:xfrm>
            <a:custGeom>
              <a:avLst/>
              <a:gdLst/>
              <a:ahLst/>
              <a:cxnLst/>
              <a:rect r="r" b="b" t="t" l="l"/>
              <a:pathLst>
                <a:path h="237973" w="237973">
                  <a:moveTo>
                    <a:pt x="0" y="0"/>
                  </a:moveTo>
                  <a:lnTo>
                    <a:pt x="237973" y="0"/>
                  </a:lnTo>
                  <a:lnTo>
                    <a:pt x="237973" y="237973"/>
                  </a:lnTo>
                  <a:lnTo>
                    <a:pt x="0" y="237973"/>
                  </a:lnTo>
                  <a:close/>
                </a:path>
              </a:pathLst>
            </a:custGeom>
            <a:gradFill rotWithShape="true">
              <a:gsLst>
                <a:gs pos="0">
                  <a:srgbClr val="002E34">
                    <a:alpha val="100000"/>
                  </a:srgbClr>
                </a:gs>
                <a:gs pos="100000">
                  <a:srgbClr val="5DC1D3">
                    <a:alpha val="100000"/>
                  </a:srgbClr>
                </a:gs>
              </a:gsLst>
              <a:lin ang="2700000"/>
            </a:gradFill>
          </p:spPr>
        </p:sp>
        <p:sp>
          <p:nvSpPr>
            <p:cNvPr name="TextBox 11" id="11"/>
            <p:cNvSpPr txBox="true"/>
            <p:nvPr/>
          </p:nvSpPr>
          <p:spPr>
            <a:xfrm>
              <a:off x="0" y="19050"/>
              <a:ext cx="237973" cy="218923"/>
            </a:xfrm>
            <a:prstGeom prst="rect">
              <a:avLst/>
            </a:prstGeom>
          </p:spPr>
          <p:txBody>
            <a:bodyPr anchor="ctr" rtlCol="false" tIns="50800" lIns="50800" bIns="50800" rIns="50800"/>
            <a:lstStyle/>
            <a:p>
              <a:pPr algn="ctr">
                <a:lnSpc>
                  <a:spcPts val="2750"/>
                </a:lnSpc>
              </a:pPr>
            </a:p>
          </p:txBody>
        </p:sp>
      </p:grpSp>
      <p:sp>
        <p:nvSpPr>
          <p:cNvPr name="Freeform 12" id="12"/>
          <p:cNvSpPr/>
          <p:nvPr/>
        </p:nvSpPr>
        <p:spPr>
          <a:xfrm flipH="false" flipV="false" rot="0">
            <a:off x="2040258" y="2437626"/>
            <a:ext cx="470050" cy="417169"/>
          </a:xfrm>
          <a:custGeom>
            <a:avLst/>
            <a:gdLst/>
            <a:ahLst/>
            <a:cxnLst/>
            <a:rect r="r" b="b" t="t" l="l"/>
            <a:pathLst>
              <a:path h="417169" w="470050">
                <a:moveTo>
                  <a:pt x="0" y="0"/>
                </a:moveTo>
                <a:lnTo>
                  <a:pt x="470050" y="0"/>
                </a:lnTo>
                <a:lnTo>
                  <a:pt x="470050" y="417169"/>
                </a:lnTo>
                <a:lnTo>
                  <a:pt x="0" y="4171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2088577" y="4559881"/>
            <a:ext cx="449612" cy="503767"/>
          </a:xfrm>
          <a:custGeom>
            <a:avLst/>
            <a:gdLst/>
            <a:ahLst/>
            <a:cxnLst/>
            <a:rect r="r" b="b" t="t" l="l"/>
            <a:pathLst>
              <a:path h="503767" w="449612">
                <a:moveTo>
                  <a:pt x="0" y="0"/>
                </a:moveTo>
                <a:lnTo>
                  <a:pt x="449612" y="0"/>
                </a:lnTo>
                <a:lnTo>
                  <a:pt x="449612" y="503767"/>
                </a:lnTo>
                <a:lnTo>
                  <a:pt x="0" y="5037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0580201" y="7521127"/>
            <a:ext cx="544900" cy="544900"/>
          </a:xfrm>
          <a:custGeom>
            <a:avLst/>
            <a:gdLst/>
            <a:ahLst/>
            <a:cxnLst/>
            <a:rect r="r" b="b" t="t" l="l"/>
            <a:pathLst>
              <a:path h="544900" w="544900">
                <a:moveTo>
                  <a:pt x="0" y="0"/>
                </a:moveTo>
                <a:lnTo>
                  <a:pt x="544900" y="0"/>
                </a:lnTo>
                <a:lnTo>
                  <a:pt x="544900" y="544900"/>
                </a:lnTo>
                <a:lnTo>
                  <a:pt x="0" y="5449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5" id="15"/>
          <p:cNvGrpSpPr/>
          <p:nvPr/>
        </p:nvGrpSpPr>
        <p:grpSpPr>
          <a:xfrm rot="0">
            <a:off x="10197337" y="1940919"/>
            <a:ext cx="6408870" cy="4164850"/>
            <a:chOff x="0" y="0"/>
            <a:chExt cx="992902" cy="645244"/>
          </a:xfrm>
        </p:grpSpPr>
        <p:sp>
          <p:nvSpPr>
            <p:cNvPr name="Freeform 16" id="16"/>
            <p:cNvSpPr/>
            <p:nvPr/>
          </p:nvSpPr>
          <p:spPr>
            <a:xfrm flipH="false" flipV="false" rot="0">
              <a:off x="0" y="0"/>
              <a:ext cx="992902" cy="645244"/>
            </a:xfrm>
            <a:custGeom>
              <a:avLst/>
              <a:gdLst/>
              <a:ahLst/>
              <a:cxnLst/>
              <a:rect r="r" b="b" t="t" l="l"/>
              <a:pathLst>
                <a:path h="645244" w="992902">
                  <a:moveTo>
                    <a:pt x="0" y="0"/>
                  </a:moveTo>
                  <a:lnTo>
                    <a:pt x="992902" y="0"/>
                  </a:lnTo>
                  <a:lnTo>
                    <a:pt x="992902" y="645244"/>
                  </a:lnTo>
                  <a:lnTo>
                    <a:pt x="0" y="645244"/>
                  </a:lnTo>
                  <a:close/>
                </a:path>
              </a:pathLst>
            </a:custGeom>
            <a:blipFill>
              <a:blip r:embed="rId9"/>
              <a:stretch>
                <a:fillRect l="0" t="-1293" r="0" b="-1293"/>
              </a:stretch>
            </a:blipFill>
            <a:ln cap="sq">
              <a:noFill/>
              <a:prstDash val="solid"/>
              <a:miter/>
            </a:ln>
          </p:spPr>
        </p:sp>
      </p:grpSp>
      <p:sp>
        <p:nvSpPr>
          <p:cNvPr name="Freeform 17" id="17"/>
          <p:cNvSpPr/>
          <p:nvPr/>
        </p:nvSpPr>
        <p:spPr>
          <a:xfrm flipH="false" flipV="false" rot="0">
            <a:off x="56330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8" id="18"/>
          <p:cNvSpPr txBox="true"/>
          <p:nvPr/>
        </p:nvSpPr>
        <p:spPr>
          <a:xfrm rot="0">
            <a:off x="1852080" y="6904577"/>
            <a:ext cx="6222807" cy="1835150"/>
          </a:xfrm>
          <a:prstGeom prst="rect">
            <a:avLst/>
          </a:prstGeom>
        </p:spPr>
        <p:txBody>
          <a:bodyPr anchor="t" rtlCol="false" tIns="0" lIns="0" bIns="0" rIns="0">
            <a:spAutoFit/>
          </a:bodyPr>
          <a:lstStyle/>
          <a:p>
            <a:pPr algn="l">
              <a:lnSpc>
                <a:spcPts val="7150"/>
              </a:lnSpc>
            </a:pPr>
            <a:r>
              <a:rPr lang="en-US" sz="6500" b="true">
                <a:solidFill>
                  <a:srgbClr val="FFFFFF"/>
                </a:solidFill>
                <a:latin typeface="TT Lakes Neue Bold"/>
                <a:ea typeface="TT Lakes Neue Bold"/>
                <a:cs typeface="TT Lakes Neue Bold"/>
                <a:sym typeface="TT Lakes Neue Bold"/>
              </a:rPr>
              <a:t>Common Cyber Threats</a:t>
            </a:r>
          </a:p>
        </p:txBody>
      </p:sp>
      <p:sp>
        <p:nvSpPr>
          <p:cNvPr name="TextBox 19" id="19"/>
          <p:cNvSpPr txBox="true"/>
          <p:nvPr/>
        </p:nvSpPr>
        <p:spPr>
          <a:xfrm rot="0">
            <a:off x="3142019" y="2159294"/>
            <a:ext cx="1623101" cy="355563"/>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MALWARE</a:t>
            </a:r>
          </a:p>
        </p:txBody>
      </p:sp>
      <p:sp>
        <p:nvSpPr>
          <p:cNvPr name="TextBox 20" id="20"/>
          <p:cNvSpPr txBox="true"/>
          <p:nvPr/>
        </p:nvSpPr>
        <p:spPr>
          <a:xfrm rot="0">
            <a:off x="3142019" y="4372523"/>
            <a:ext cx="1623101" cy="355666"/>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PHISHING</a:t>
            </a:r>
          </a:p>
        </p:txBody>
      </p:sp>
      <p:sp>
        <p:nvSpPr>
          <p:cNvPr name="TextBox 21" id="21"/>
          <p:cNvSpPr txBox="true"/>
          <p:nvPr/>
        </p:nvSpPr>
        <p:spPr>
          <a:xfrm rot="0">
            <a:off x="11714897" y="7284650"/>
            <a:ext cx="3042997" cy="355600"/>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DDOS ATTACKS</a:t>
            </a:r>
          </a:p>
        </p:txBody>
      </p:sp>
      <p:sp>
        <p:nvSpPr>
          <p:cNvPr name="TextBox 22" id="22"/>
          <p:cNvSpPr txBox="true"/>
          <p:nvPr/>
        </p:nvSpPr>
        <p:spPr>
          <a:xfrm rot="0">
            <a:off x="3142019" y="2745258"/>
            <a:ext cx="5680349" cy="98996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 incididunt ut labore et dolore magna aliqua. </a:t>
            </a:r>
          </a:p>
        </p:txBody>
      </p:sp>
      <p:sp>
        <p:nvSpPr>
          <p:cNvPr name="TextBox 23" id="23"/>
          <p:cNvSpPr txBox="true"/>
          <p:nvPr/>
        </p:nvSpPr>
        <p:spPr>
          <a:xfrm rot="0">
            <a:off x="3142019" y="4956790"/>
            <a:ext cx="5680349" cy="98996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 incididunt ut labore et dolore magna aliqua. </a:t>
            </a:r>
          </a:p>
        </p:txBody>
      </p:sp>
      <p:sp>
        <p:nvSpPr>
          <p:cNvPr name="TextBox 24" id="24"/>
          <p:cNvSpPr txBox="true"/>
          <p:nvPr/>
        </p:nvSpPr>
        <p:spPr>
          <a:xfrm rot="0">
            <a:off x="11714897" y="7899189"/>
            <a:ext cx="5013867" cy="98996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 incididunt ut labore et dolore magna aliqua. </a:t>
            </a:r>
          </a:p>
        </p:txBody>
      </p:sp>
      <p:sp>
        <p:nvSpPr>
          <p:cNvPr name="TextBox 25" id="25"/>
          <p:cNvSpPr txBox="true"/>
          <p:nvPr/>
        </p:nvSpPr>
        <p:spPr>
          <a:xfrm rot="0">
            <a:off x="1309968"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grpSp>
        <p:nvGrpSpPr>
          <p:cNvPr name="Group 26" id="26"/>
          <p:cNvGrpSpPr/>
          <p:nvPr/>
        </p:nvGrpSpPr>
        <p:grpSpPr>
          <a:xfrm rot="5400000">
            <a:off x="16660024" y="42013"/>
            <a:ext cx="1481641" cy="740820"/>
            <a:chOff x="0" y="0"/>
            <a:chExt cx="812800" cy="406400"/>
          </a:xfrm>
        </p:grpSpPr>
        <p:sp>
          <p:nvSpPr>
            <p:cNvPr name="Freeform 27" id="27"/>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28" id="28"/>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sp>
        <p:nvSpPr>
          <p:cNvPr name="TextBox 29" id="29"/>
          <p:cNvSpPr txBox="true"/>
          <p:nvPr/>
        </p:nvSpPr>
        <p:spPr>
          <a:xfrm rot="0">
            <a:off x="17044598" y="431473"/>
            <a:ext cx="712493"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03</a:t>
            </a:r>
          </a:p>
        </p:txBody>
      </p:sp>
      <p:sp>
        <p:nvSpPr>
          <p:cNvPr name="Freeform 30" id="30"/>
          <p:cNvSpPr/>
          <p:nvPr/>
        </p:nvSpPr>
        <p:spPr>
          <a:xfrm flipH="false" flipV="true" rot="8100000">
            <a:off x="5508702" y="-2610140"/>
            <a:ext cx="6211019" cy="4114800"/>
          </a:xfrm>
          <a:custGeom>
            <a:avLst/>
            <a:gdLst/>
            <a:ahLst/>
            <a:cxnLst/>
            <a:rect r="r" b="b" t="t" l="l"/>
            <a:pathLst>
              <a:path h="4114800" w="6211019">
                <a:moveTo>
                  <a:pt x="0" y="4114800"/>
                </a:moveTo>
                <a:lnTo>
                  <a:pt x="6211019" y="4114800"/>
                </a:lnTo>
                <a:lnTo>
                  <a:pt x="6211019" y="0"/>
                </a:lnTo>
                <a:lnTo>
                  <a:pt x="0" y="0"/>
                </a:lnTo>
                <a:lnTo>
                  <a:pt x="0" y="4114800"/>
                </a:lnTo>
                <a:close/>
              </a:path>
            </a:pathLst>
          </a:custGeom>
          <a:blipFill>
            <a:blip r:embed="rId12">
              <a:alphaModFix amt="26000"/>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103371" y="4493944"/>
            <a:ext cx="473364" cy="473364"/>
            <a:chOff x="0" y="0"/>
            <a:chExt cx="124672" cy="124672"/>
          </a:xfrm>
        </p:grpSpPr>
        <p:sp>
          <p:nvSpPr>
            <p:cNvPr name="Freeform 4" id="4"/>
            <p:cNvSpPr/>
            <p:nvPr/>
          </p:nvSpPr>
          <p:spPr>
            <a:xfrm flipH="false" flipV="false" rot="0">
              <a:off x="0" y="0"/>
              <a:ext cx="124672" cy="124672"/>
            </a:xfrm>
            <a:custGeom>
              <a:avLst/>
              <a:gdLst/>
              <a:ahLst/>
              <a:cxnLst/>
              <a:rect r="r" b="b" t="t" l="l"/>
              <a:pathLst>
                <a:path h="124672" w="124672">
                  <a:moveTo>
                    <a:pt x="0" y="0"/>
                  </a:moveTo>
                  <a:lnTo>
                    <a:pt x="124672" y="0"/>
                  </a:lnTo>
                  <a:lnTo>
                    <a:pt x="124672" y="124672"/>
                  </a:lnTo>
                  <a:lnTo>
                    <a:pt x="0" y="124672"/>
                  </a:lnTo>
                  <a:close/>
                </a:path>
              </a:pathLst>
            </a:custGeom>
            <a:gradFill rotWithShape="true">
              <a:gsLst>
                <a:gs pos="0">
                  <a:srgbClr val="002E34">
                    <a:alpha val="100000"/>
                  </a:srgbClr>
                </a:gs>
                <a:gs pos="100000">
                  <a:srgbClr val="5DC1D3">
                    <a:alpha val="100000"/>
                  </a:srgbClr>
                </a:gs>
              </a:gsLst>
              <a:lin ang="2700000"/>
            </a:gradFill>
          </p:spPr>
        </p:sp>
        <p:sp>
          <p:nvSpPr>
            <p:cNvPr name="TextBox 5" id="5"/>
            <p:cNvSpPr txBox="true"/>
            <p:nvPr/>
          </p:nvSpPr>
          <p:spPr>
            <a:xfrm>
              <a:off x="0" y="19050"/>
              <a:ext cx="124672" cy="105622"/>
            </a:xfrm>
            <a:prstGeom prst="rect">
              <a:avLst/>
            </a:prstGeom>
          </p:spPr>
          <p:txBody>
            <a:bodyPr anchor="ctr" rtlCol="false" tIns="50800" lIns="50800" bIns="50800" rIns="50800"/>
            <a:lstStyle/>
            <a:p>
              <a:pPr algn="ctr">
                <a:lnSpc>
                  <a:spcPts val="2750"/>
                </a:lnSpc>
              </a:pPr>
            </a:p>
          </p:txBody>
        </p:sp>
      </p:grpSp>
      <p:grpSp>
        <p:nvGrpSpPr>
          <p:cNvPr name="Group 6" id="6"/>
          <p:cNvGrpSpPr/>
          <p:nvPr/>
        </p:nvGrpSpPr>
        <p:grpSpPr>
          <a:xfrm rot="0">
            <a:off x="2103371" y="5519758"/>
            <a:ext cx="473364" cy="473364"/>
            <a:chOff x="0" y="0"/>
            <a:chExt cx="124672" cy="124672"/>
          </a:xfrm>
        </p:grpSpPr>
        <p:sp>
          <p:nvSpPr>
            <p:cNvPr name="Freeform 7" id="7"/>
            <p:cNvSpPr/>
            <p:nvPr/>
          </p:nvSpPr>
          <p:spPr>
            <a:xfrm flipH="false" flipV="false" rot="0">
              <a:off x="0" y="0"/>
              <a:ext cx="124672" cy="124672"/>
            </a:xfrm>
            <a:custGeom>
              <a:avLst/>
              <a:gdLst/>
              <a:ahLst/>
              <a:cxnLst/>
              <a:rect r="r" b="b" t="t" l="l"/>
              <a:pathLst>
                <a:path h="124672" w="124672">
                  <a:moveTo>
                    <a:pt x="0" y="0"/>
                  </a:moveTo>
                  <a:lnTo>
                    <a:pt x="124672" y="0"/>
                  </a:lnTo>
                  <a:lnTo>
                    <a:pt x="124672" y="124672"/>
                  </a:lnTo>
                  <a:lnTo>
                    <a:pt x="0" y="124672"/>
                  </a:lnTo>
                  <a:close/>
                </a:path>
              </a:pathLst>
            </a:custGeom>
            <a:gradFill rotWithShape="true">
              <a:gsLst>
                <a:gs pos="0">
                  <a:srgbClr val="002E34">
                    <a:alpha val="100000"/>
                  </a:srgbClr>
                </a:gs>
                <a:gs pos="100000">
                  <a:srgbClr val="5DC1D3">
                    <a:alpha val="100000"/>
                  </a:srgbClr>
                </a:gs>
              </a:gsLst>
              <a:lin ang="2700000"/>
            </a:gradFill>
          </p:spPr>
        </p:sp>
        <p:sp>
          <p:nvSpPr>
            <p:cNvPr name="TextBox 8" id="8"/>
            <p:cNvSpPr txBox="true"/>
            <p:nvPr/>
          </p:nvSpPr>
          <p:spPr>
            <a:xfrm>
              <a:off x="0" y="19050"/>
              <a:ext cx="124672" cy="105622"/>
            </a:xfrm>
            <a:prstGeom prst="rect">
              <a:avLst/>
            </a:prstGeom>
          </p:spPr>
          <p:txBody>
            <a:bodyPr anchor="ctr" rtlCol="false" tIns="50800" lIns="50800" bIns="50800" rIns="50800"/>
            <a:lstStyle/>
            <a:p>
              <a:pPr algn="ctr">
                <a:lnSpc>
                  <a:spcPts val="2750"/>
                </a:lnSpc>
              </a:pPr>
            </a:p>
          </p:txBody>
        </p:sp>
      </p:grpSp>
      <p:grpSp>
        <p:nvGrpSpPr>
          <p:cNvPr name="Group 9" id="9"/>
          <p:cNvGrpSpPr/>
          <p:nvPr/>
        </p:nvGrpSpPr>
        <p:grpSpPr>
          <a:xfrm rot="0">
            <a:off x="2103371" y="6469372"/>
            <a:ext cx="473364" cy="473364"/>
            <a:chOff x="0" y="0"/>
            <a:chExt cx="124672" cy="124672"/>
          </a:xfrm>
        </p:grpSpPr>
        <p:sp>
          <p:nvSpPr>
            <p:cNvPr name="Freeform 10" id="10"/>
            <p:cNvSpPr/>
            <p:nvPr/>
          </p:nvSpPr>
          <p:spPr>
            <a:xfrm flipH="false" flipV="false" rot="0">
              <a:off x="0" y="0"/>
              <a:ext cx="124672" cy="124672"/>
            </a:xfrm>
            <a:custGeom>
              <a:avLst/>
              <a:gdLst/>
              <a:ahLst/>
              <a:cxnLst/>
              <a:rect r="r" b="b" t="t" l="l"/>
              <a:pathLst>
                <a:path h="124672" w="124672">
                  <a:moveTo>
                    <a:pt x="0" y="0"/>
                  </a:moveTo>
                  <a:lnTo>
                    <a:pt x="124672" y="0"/>
                  </a:lnTo>
                  <a:lnTo>
                    <a:pt x="124672" y="124672"/>
                  </a:lnTo>
                  <a:lnTo>
                    <a:pt x="0" y="124672"/>
                  </a:lnTo>
                  <a:close/>
                </a:path>
              </a:pathLst>
            </a:custGeom>
            <a:gradFill rotWithShape="true">
              <a:gsLst>
                <a:gs pos="0">
                  <a:srgbClr val="002E34">
                    <a:alpha val="100000"/>
                  </a:srgbClr>
                </a:gs>
                <a:gs pos="100000">
                  <a:srgbClr val="5DC1D3">
                    <a:alpha val="100000"/>
                  </a:srgbClr>
                </a:gs>
              </a:gsLst>
              <a:lin ang="2700000"/>
            </a:gradFill>
          </p:spPr>
        </p:sp>
        <p:sp>
          <p:nvSpPr>
            <p:cNvPr name="TextBox 11" id="11"/>
            <p:cNvSpPr txBox="true"/>
            <p:nvPr/>
          </p:nvSpPr>
          <p:spPr>
            <a:xfrm>
              <a:off x="0" y="19050"/>
              <a:ext cx="124672" cy="105622"/>
            </a:xfrm>
            <a:prstGeom prst="rect">
              <a:avLst/>
            </a:prstGeom>
          </p:spPr>
          <p:txBody>
            <a:bodyPr anchor="ctr" rtlCol="false" tIns="50800" lIns="50800" bIns="50800" rIns="50800"/>
            <a:lstStyle/>
            <a:p>
              <a:pPr algn="ctr">
                <a:lnSpc>
                  <a:spcPts val="2750"/>
                </a:lnSpc>
              </a:pPr>
            </a:p>
          </p:txBody>
        </p:sp>
      </p:grpSp>
      <p:sp>
        <p:nvSpPr>
          <p:cNvPr name="Freeform 12" id="12"/>
          <p:cNvSpPr/>
          <p:nvPr/>
        </p:nvSpPr>
        <p:spPr>
          <a:xfrm flipH="false" flipV="false" rot="0">
            <a:off x="2267865" y="4612285"/>
            <a:ext cx="144376" cy="236682"/>
          </a:xfrm>
          <a:custGeom>
            <a:avLst/>
            <a:gdLst/>
            <a:ahLst/>
            <a:cxnLst/>
            <a:rect r="r" b="b" t="t" l="l"/>
            <a:pathLst>
              <a:path h="236682" w="144376">
                <a:moveTo>
                  <a:pt x="0" y="0"/>
                </a:moveTo>
                <a:lnTo>
                  <a:pt x="144376" y="0"/>
                </a:lnTo>
                <a:lnTo>
                  <a:pt x="144376" y="236682"/>
                </a:lnTo>
                <a:lnTo>
                  <a:pt x="0" y="2366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2267865" y="5638099"/>
            <a:ext cx="144376" cy="236682"/>
          </a:xfrm>
          <a:custGeom>
            <a:avLst/>
            <a:gdLst/>
            <a:ahLst/>
            <a:cxnLst/>
            <a:rect r="r" b="b" t="t" l="l"/>
            <a:pathLst>
              <a:path h="236682" w="144376">
                <a:moveTo>
                  <a:pt x="0" y="0"/>
                </a:moveTo>
                <a:lnTo>
                  <a:pt x="144376" y="0"/>
                </a:lnTo>
                <a:lnTo>
                  <a:pt x="144376" y="236682"/>
                </a:lnTo>
                <a:lnTo>
                  <a:pt x="0" y="2366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267865" y="6587713"/>
            <a:ext cx="144376" cy="236682"/>
          </a:xfrm>
          <a:custGeom>
            <a:avLst/>
            <a:gdLst/>
            <a:ahLst/>
            <a:cxnLst/>
            <a:rect r="r" b="b" t="t" l="l"/>
            <a:pathLst>
              <a:path h="236682" w="144376">
                <a:moveTo>
                  <a:pt x="0" y="0"/>
                </a:moveTo>
                <a:lnTo>
                  <a:pt x="144376" y="0"/>
                </a:lnTo>
                <a:lnTo>
                  <a:pt x="144376" y="236681"/>
                </a:lnTo>
                <a:lnTo>
                  <a:pt x="0" y="2366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8911292" y="1636869"/>
            <a:ext cx="6787506" cy="3506631"/>
            <a:chOff x="0" y="0"/>
            <a:chExt cx="1051562" cy="543269"/>
          </a:xfrm>
        </p:grpSpPr>
        <p:sp>
          <p:nvSpPr>
            <p:cNvPr name="Freeform 16" id="16"/>
            <p:cNvSpPr/>
            <p:nvPr/>
          </p:nvSpPr>
          <p:spPr>
            <a:xfrm flipH="false" flipV="false" rot="0">
              <a:off x="0" y="0"/>
              <a:ext cx="1051562" cy="543269"/>
            </a:xfrm>
            <a:custGeom>
              <a:avLst/>
              <a:gdLst/>
              <a:ahLst/>
              <a:cxnLst/>
              <a:rect r="r" b="b" t="t" l="l"/>
              <a:pathLst>
                <a:path h="543269" w="1051562">
                  <a:moveTo>
                    <a:pt x="0" y="0"/>
                  </a:moveTo>
                  <a:lnTo>
                    <a:pt x="1051562" y="0"/>
                  </a:lnTo>
                  <a:lnTo>
                    <a:pt x="1051562" y="543269"/>
                  </a:lnTo>
                  <a:lnTo>
                    <a:pt x="0" y="543269"/>
                  </a:lnTo>
                  <a:close/>
                </a:path>
              </a:pathLst>
            </a:custGeom>
            <a:blipFill>
              <a:blip r:embed="rId5"/>
              <a:stretch>
                <a:fillRect l="0" t="-3531" r="0" b="-3531"/>
              </a:stretch>
            </a:blipFill>
            <a:ln cap="sq">
              <a:noFill/>
              <a:prstDash val="solid"/>
              <a:miter/>
            </a:ln>
          </p:spPr>
        </p:sp>
      </p:grpSp>
      <p:grpSp>
        <p:nvGrpSpPr>
          <p:cNvPr name="Group 17" id="17"/>
          <p:cNvGrpSpPr/>
          <p:nvPr/>
        </p:nvGrpSpPr>
        <p:grpSpPr>
          <a:xfrm rot="0">
            <a:off x="10608363" y="5427003"/>
            <a:ext cx="6550193" cy="3538828"/>
            <a:chOff x="0" y="0"/>
            <a:chExt cx="1091441" cy="589665"/>
          </a:xfrm>
        </p:grpSpPr>
        <p:sp>
          <p:nvSpPr>
            <p:cNvPr name="Freeform 18" id="18"/>
            <p:cNvSpPr/>
            <p:nvPr/>
          </p:nvSpPr>
          <p:spPr>
            <a:xfrm flipH="false" flipV="false" rot="0">
              <a:off x="0" y="0"/>
              <a:ext cx="1091441" cy="589665"/>
            </a:xfrm>
            <a:custGeom>
              <a:avLst/>
              <a:gdLst/>
              <a:ahLst/>
              <a:cxnLst/>
              <a:rect r="r" b="b" t="t" l="l"/>
              <a:pathLst>
                <a:path h="589665" w="1091441">
                  <a:moveTo>
                    <a:pt x="0" y="0"/>
                  </a:moveTo>
                  <a:lnTo>
                    <a:pt x="1091441" y="0"/>
                  </a:lnTo>
                  <a:lnTo>
                    <a:pt x="1091441" y="589665"/>
                  </a:lnTo>
                  <a:lnTo>
                    <a:pt x="0" y="589665"/>
                  </a:lnTo>
                  <a:close/>
                </a:path>
              </a:pathLst>
            </a:custGeom>
            <a:blipFill>
              <a:blip r:embed="rId6"/>
              <a:stretch>
                <a:fillRect l="0" t="-11698" r="0" b="-11698"/>
              </a:stretch>
            </a:blipFill>
            <a:ln cap="sq">
              <a:noFill/>
              <a:prstDash val="solid"/>
              <a:miter/>
            </a:ln>
          </p:spPr>
        </p:sp>
      </p:grpSp>
      <p:sp>
        <p:nvSpPr>
          <p:cNvPr name="Freeform 19" id="19"/>
          <p:cNvSpPr/>
          <p:nvPr/>
        </p:nvSpPr>
        <p:spPr>
          <a:xfrm flipH="false" flipV="false" rot="0">
            <a:off x="56330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0" id="20"/>
          <p:cNvGrpSpPr/>
          <p:nvPr/>
        </p:nvGrpSpPr>
        <p:grpSpPr>
          <a:xfrm rot="5400000">
            <a:off x="16660024" y="42013"/>
            <a:ext cx="1481641" cy="740820"/>
            <a:chOff x="0" y="0"/>
            <a:chExt cx="812800" cy="406400"/>
          </a:xfrm>
        </p:grpSpPr>
        <p:sp>
          <p:nvSpPr>
            <p:cNvPr name="Freeform 21" id="21"/>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22" id="22"/>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grpSp>
        <p:nvGrpSpPr>
          <p:cNvPr name="Group 23" id="23"/>
          <p:cNvGrpSpPr/>
          <p:nvPr/>
        </p:nvGrpSpPr>
        <p:grpSpPr>
          <a:xfrm rot="0">
            <a:off x="14956934" y="2352870"/>
            <a:ext cx="2201622" cy="2201622"/>
            <a:chOff x="0" y="0"/>
            <a:chExt cx="579851" cy="579851"/>
          </a:xfrm>
        </p:grpSpPr>
        <p:sp>
          <p:nvSpPr>
            <p:cNvPr name="Freeform 24" id="24"/>
            <p:cNvSpPr/>
            <p:nvPr/>
          </p:nvSpPr>
          <p:spPr>
            <a:xfrm flipH="false" flipV="false" rot="0">
              <a:off x="0" y="0"/>
              <a:ext cx="579851" cy="579851"/>
            </a:xfrm>
            <a:custGeom>
              <a:avLst/>
              <a:gdLst/>
              <a:ahLst/>
              <a:cxnLst/>
              <a:rect r="r" b="b" t="t" l="l"/>
              <a:pathLst>
                <a:path h="579851" w="579851">
                  <a:moveTo>
                    <a:pt x="0" y="0"/>
                  </a:moveTo>
                  <a:lnTo>
                    <a:pt x="579851" y="0"/>
                  </a:lnTo>
                  <a:lnTo>
                    <a:pt x="579851" y="579851"/>
                  </a:lnTo>
                  <a:lnTo>
                    <a:pt x="0" y="579851"/>
                  </a:lnTo>
                  <a:close/>
                </a:path>
              </a:pathLst>
            </a:custGeom>
            <a:gradFill rotWithShape="true">
              <a:gsLst>
                <a:gs pos="0">
                  <a:srgbClr val="002E34">
                    <a:alpha val="100000"/>
                  </a:srgbClr>
                </a:gs>
                <a:gs pos="100000">
                  <a:srgbClr val="5DC1D3">
                    <a:alpha val="100000"/>
                  </a:srgbClr>
                </a:gs>
              </a:gsLst>
              <a:lin ang="2700000"/>
            </a:gradFill>
          </p:spPr>
        </p:sp>
        <p:sp>
          <p:nvSpPr>
            <p:cNvPr name="TextBox 25" id="25"/>
            <p:cNvSpPr txBox="true"/>
            <p:nvPr/>
          </p:nvSpPr>
          <p:spPr>
            <a:xfrm>
              <a:off x="0" y="19050"/>
              <a:ext cx="579851" cy="560801"/>
            </a:xfrm>
            <a:prstGeom prst="rect">
              <a:avLst/>
            </a:prstGeom>
          </p:spPr>
          <p:txBody>
            <a:bodyPr anchor="ctr" rtlCol="false" tIns="50800" lIns="50800" bIns="50800" rIns="50800"/>
            <a:lstStyle/>
            <a:p>
              <a:pPr algn="ctr">
                <a:lnSpc>
                  <a:spcPts val="2750"/>
                </a:lnSpc>
              </a:pPr>
            </a:p>
          </p:txBody>
        </p:sp>
      </p:grpSp>
      <p:sp>
        <p:nvSpPr>
          <p:cNvPr name="TextBox 26" id="26"/>
          <p:cNvSpPr txBox="true"/>
          <p:nvPr/>
        </p:nvSpPr>
        <p:spPr>
          <a:xfrm rot="0">
            <a:off x="2080888" y="1972092"/>
            <a:ext cx="5962866" cy="1835150"/>
          </a:xfrm>
          <a:prstGeom prst="rect">
            <a:avLst/>
          </a:prstGeom>
        </p:spPr>
        <p:txBody>
          <a:bodyPr anchor="t" rtlCol="false" tIns="0" lIns="0" bIns="0" rIns="0">
            <a:spAutoFit/>
          </a:bodyPr>
          <a:lstStyle/>
          <a:p>
            <a:pPr algn="l">
              <a:lnSpc>
                <a:spcPts val="7150"/>
              </a:lnSpc>
            </a:pPr>
            <a:r>
              <a:rPr lang="en-US" sz="6500" b="true">
                <a:solidFill>
                  <a:srgbClr val="FFFFFF"/>
                </a:solidFill>
                <a:latin typeface="TT Lakes Neue Bold"/>
                <a:ea typeface="TT Lakes Neue Bold"/>
                <a:cs typeface="TT Lakes Neue Bold"/>
                <a:sym typeface="TT Lakes Neue Bold"/>
              </a:rPr>
              <a:t>How Hackers Get In</a:t>
            </a:r>
          </a:p>
        </p:txBody>
      </p:sp>
      <p:sp>
        <p:nvSpPr>
          <p:cNvPr name="TextBox 27" id="27"/>
          <p:cNvSpPr txBox="true"/>
          <p:nvPr/>
        </p:nvSpPr>
        <p:spPr>
          <a:xfrm rot="0">
            <a:off x="14981595" y="2757865"/>
            <a:ext cx="2227622" cy="930275"/>
          </a:xfrm>
          <a:prstGeom prst="rect">
            <a:avLst/>
          </a:prstGeom>
        </p:spPr>
        <p:txBody>
          <a:bodyPr anchor="t" rtlCol="false" tIns="0" lIns="0" bIns="0" rIns="0">
            <a:spAutoFit/>
          </a:bodyPr>
          <a:lstStyle/>
          <a:p>
            <a:pPr algn="ctr">
              <a:lnSpc>
                <a:spcPts val="7150"/>
              </a:lnSpc>
            </a:pPr>
            <a:r>
              <a:rPr lang="en-US" sz="6500" b="true">
                <a:solidFill>
                  <a:srgbClr val="FFFFFF"/>
                </a:solidFill>
                <a:latin typeface="TT Lakes Neue Bold"/>
                <a:ea typeface="TT Lakes Neue Bold"/>
                <a:cs typeface="TT Lakes Neue Bold"/>
                <a:sym typeface="TT Lakes Neue Bold"/>
              </a:rPr>
              <a:t>20K</a:t>
            </a:r>
          </a:p>
        </p:txBody>
      </p:sp>
      <p:sp>
        <p:nvSpPr>
          <p:cNvPr name="TextBox 28" id="28"/>
          <p:cNvSpPr txBox="true"/>
          <p:nvPr/>
        </p:nvSpPr>
        <p:spPr>
          <a:xfrm rot="0">
            <a:off x="2864896" y="6548969"/>
            <a:ext cx="4060885" cy="355563"/>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SOCIAL ENGINEERING</a:t>
            </a:r>
          </a:p>
        </p:txBody>
      </p:sp>
      <p:sp>
        <p:nvSpPr>
          <p:cNvPr name="TextBox 29" id="29"/>
          <p:cNvSpPr txBox="true"/>
          <p:nvPr/>
        </p:nvSpPr>
        <p:spPr>
          <a:xfrm rot="0">
            <a:off x="15236577" y="3716715"/>
            <a:ext cx="1717657" cy="489511"/>
          </a:xfrm>
          <a:prstGeom prst="rect">
            <a:avLst/>
          </a:prstGeom>
        </p:spPr>
        <p:txBody>
          <a:bodyPr anchor="t" rtlCol="false" tIns="0" lIns="0" bIns="0" rIns="0">
            <a:spAutoFit/>
          </a:bodyPr>
          <a:lstStyle/>
          <a:p>
            <a:pPr algn="ctr">
              <a:lnSpc>
                <a:spcPts val="1980"/>
              </a:lnSpc>
            </a:pPr>
            <a:r>
              <a:rPr lang="en-US" sz="1800">
                <a:solidFill>
                  <a:srgbClr val="FFFFFF"/>
                </a:solidFill>
                <a:latin typeface="Open Sans"/>
                <a:ea typeface="Open Sans"/>
                <a:cs typeface="Open Sans"/>
                <a:sym typeface="Open Sans"/>
              </a:rPr>
              <a:t>PLACE YOUR TEXT HERE</a:t>
            </a:r>
          </a:p>
        </p:txBody>
      </p:sp>
      <p:sp>
        <p:nvSpPr>
          <p:cNvPr name="TextBox 30" id="30"/>
          <p:cNvSpPr txBox="true"/>
          <p:nvPr/>
        </p:nvSpPr>
        <p:spPr>
          <a:xfrm rot="0">
            <a:off x="2864896" y="5580305"/>
            <a:ext cx="4312156" cy="355563"/>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UNPATCHED SOFTWARE</a:t>
            </a:r>
          </a:p>
        </p:txBody>
      </p:sp>
      <p:sp>
        <p:nvSpPr>
          <p:cNvPr name="TextBox 31" id="31"/>
          <p:cNvSpPr txBox="true"/>
          <p:nvPr/>
        </p:nvSpPr>
        <p:spPr>
          <a:xfrm rot="0">
            <a:off x="2864896" y="4573542"/>
            <a:ext cx="3427228" cy="355563"/>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WEAK PASSWORDS</a:t>
            </a:r>
          </a:p>
        </p:txBody>
      </p:sp>
      <p:sp>
        <p:nvSpPr>
          <p:cNvPr name="TextBox 32" id="32"/>
          <p:cNvSpPr txBox="true"/>
          <p:nvPr/>
        </p:nvSpPr>
        <p:spPr>
          <a:xfrm rot="0">
            <a:off x="2103371" y="7619010"/>
            <a:ext cx="6508367" cy="98996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 incididunt ut labore et dolore magna aliqua. Ut enim ad minim veniam.</a:t>
            </a:r>
          </a:p>
        </p:txBody>
      </p:sp>
      <p:sp>
        <p:nvSpPr>
          <p:cNvPr name="TextBox 33" id="33"/>
          <p:cNvSpPr txBox="true"/>
          <p:nvPr/>
        </p:nvSpPr>
        <p:spPr>
          <a:xfrm rot="0">
            <a:off x="1309968"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sp>
        <p:nvSpPr>
          <p:cNvPr name="TextBox 34" id="34"/>
          <p:cNvSpPr txBox="true"/>
          <p:nvPr/>
        </p:nvSpPr>
        <p:spPr>
          <a:xfrm rot="0">
            <a:off x="17044598" y="431473"/>
            <a:ext cx="712493"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04</a:t>
            </a:r>
          </a:p>
        </p:txBody>
      </p:sp>
      <p:sp>
        <p:nvSpPr>
          <p:cNvPr name="Freeform 35" id="35"/>
          <p:cNvSpPr/>
          <p:nvPr/>
        </p:nvSpPr>
        <p:spPr>
          <a:xfrm flipH="false" flipV="false" rot="-10800000">
            <a:off x="14665745" y="8402106"/>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9">
              <a:alphaModFix amt="26000"/>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7100531" y="4574728"/>
            <a:ext cx="473364" cy="473364"/>
            <a:chOff x="0" y="0"/>
            <a:chExt cx="124672" cy="124672"/>
          </a:xfrm>
        </p:grpSpPr>
        <p:sp>
          <p:nvSpPr>
            <p:cNvPr name="Freeform 4" id="4"/>
            <p:cNvSpPr/>
            <p:nvPr/>
          </p:nvSpPr>
          <p:spPr>
            <a:xfrm flipH="false" flipV="false" rot="0">
              <a:off x="0" y="0"/>
              <a:ext cx="124672" cy="124672"/>
            </a:xfrm>
            <a:custGeom>
              <a:avLst/>
              <a:gdLst/>
              <a:ahLst/>
              <a:cxnLst/>
              <a:rect r="r" b="b" t="t" l="l"/>
              <a:pathLst>
                <a:path h="124672" w="124672">
                  <a:moveTo>
                    <a:pt x="0" y="0"/>
                  </a:moveTo>
                  <a:lnTo>
                    <a:pt x="124672" y="0"/>
                  </a:lnTo>
                  <a:lnTo>
                    <a:pt x="124672" y="124672"/>
                  </a:lnTo>
                  <a:lnTo>
                    <a:pt x="0" y="124672"/>
                  </a:lnTo>
                  <a:close/>
                </a:path>
              </a:pathLst>
            </a:custGeom>
            <a:gradFill rotWithShape="true">
              <a:gsLst>
                <a:gs pos="0">
                  <a:srgbClr val="002E34">
                    <a:alpha val="100000"/>
                  </a:srgbClr>
                </a:gs>
                <a:gs pos="100000">
                  <a:srgbClr val="5DC1D3">
                    <a:alpha val="100000"/>
                  </a:srgbClr>
                </a:gs>
              </a:gsLst>
              <a:lin ang="2700000"/>
            </a:gradFill>
          </p:spPr>
        </p:sp>
        <p:sp>
          <p:nvSpPr>
            <p:cNvPr name="TextBox 5" id="5"/>
            <p:cNvSpPr txBox="true"/>
            <p:nvPr/>
          </p:nvSpPr>
          <p:spPr>
            <a:xfrm>
              <a:off x="0" y="19050"/>
              <a:ext cx="124672" cy="105622"/>
            </a:xfrm>
            <a:prstGeom prst="rect">
              <a:avLst/>
            </a:prstGeom>
          </p:spPr>
          <p:txBody>
            <a:bodyPr anchor="ctr" rtlCol="false" tIns="50800" lIns="50800" bIns="50800" rIns="50800"/>
            <a:lstStyle/>
            <a:p>
              <a:pPr algn="ctr">
                <a:lnSpc>
                  <a:spcPts val="2750"/>
                </a:lnSpc>
              </a:pPr>
            </a:p>
          </p:txBody>
        </p:sp>
      </p:grpSp>
      <p:grpSp>
        <p:nvGrpSpPr>
          <p:cNvPr name="Group 6" id="6"/>
          <p:cNvGrpSpPr/>
          <p:nvPr/>
        </p:nvGrpSpPr>
        <p:grpSpPr>
          <a:xfrm rot="0">
            <a:off x="12142284" y="4574728"/>
            <a:ext cx="473364" cy="473364"/>
            <a:chOff x="0" y="0"/>
            <a:chExt cx="124672" cy="124672"/>
          </a:xfrm>
        </p:grpSpPr>
        <p:sp>
          <p:nvSpPr>
            <p:cNvPr name="Freeform 7" id="7"/>
            <p:cNvSpPr/>
            <p:nvPr/>
          </p:nvSpPr>
          <p:spPr>
            <a:xfrm flipH="false" flipV="false" rot="0">
              <a:off x="0" y="0"/>
              <a:ext cx="124672" cy="124672"/>
            </a:xfrm>
            <a:custGeom>
              <a:avLst/>
              <a:gdLst/>
              <a:ahLst/>
              <a:cxnLst/>
              <a:rect r="r" b="b" t="t" l="l"/>
              <a:pathLst>
                <a:path h="124672" w="124672">
                  <a:moveTo>
                    <a:pt x="0" y="0"/>
                  </a:moveTo>
                  <a:lnTo>
                    <a:pt x="124672" y="0"/>
                  </a:lnTo>
                  <a:lnTo>
                    <a:pt x="124672" y="124672"/>
                  </a:lnTo>
                  <a:lnTo>
                    <a:pt x="0" y="124672"/>
                  </a:lnTo>
                  <a:close/>
                </a:path>
              </a:pathLst>
            </a:custGeom>
            <a:gradFill rotWithShape="true">
              <a:gsLst>
                <a:gs pos="0">
                  <a:srgbClr val="002E34">
                    <a:alpha val="100000"/>
                  </a:srgbClr>
                </a:gs>
                <a:gs pos="100000">
                  <a:srgbClr val="5DC1D3">
                    <a:alpha val="100000"/>
                  </a:srgbClr>
                </a:gs>
              </a:gsLst>
              <a:lin ang="2700000"/>
            </a:gradFill>
          </p:spPr>
        </p:sp>
        <p:sp>
          <p:nvSpPr>
            <p:cNvPr name="TextBox 8" id="8"/>
            <p:cNvSpPr txBox="true"/>
            <p:nvPr/>
          </p:nvSpPr>
          <p:spPr>
            <a:xfrm>
              <a:off x="0" y="19050"/>
              <a:ext cx="124672" cy="105622"/>
            </a:xfrm>
            <a:prstGeom prst="rect">
              <a:avLst/>
            </a:prstGeom>
          </p:spPr>
          <p:txBody>
            <a:bodyPr anchor="ctr" rtlCol="false" tIns="50800" lIns="50800" bIns="50800" rIns="50800"/>
            <a:lstStyle/>
            <a:p>
              <a:pPr algn="ctr">
                <a:lnSpc>
                  <a:spcPts val="2750"/>
                </a:lnSpc>
              </a:pPr>
            </a:p>
          </p:txBody>
        </p:sp>
      </p:grpSp>
      <p:grpSp>
        <p:nvGrpSpPr>
          <p:cNvPr name="Group 9" id="9"/>
          <p:cNvGrpSpPr/>
          <p:nvPr/>
        </p:nvGrpSpPr>
        <p:grpSpPr>
          <a:xfrm rot="0">
            <a:off x="7100531" y="6978042"/>
            <a:ext cx="473364" cy="473364"/>
            <a:chOff x="0" y="0"/>
            <a:chExt cx="124672" cy="124672"/>
          </a:xfrm>
        </p:grpSpPr>
        <p:sp>
          <p:nvSpPr>
            <p:cNvPr name="Freeform 10" id="10"/>
            <p:cNvSpPr/>
            <p:nvPr/>
          </p:nvSpPr>
          <p:spPr>
            <a:xfrm flipH="false" flipV="false" rot="0">
              <a:off x="0" y="0"/>
              <a:ext cx="124672" cy="124672"/>
            </a:xfrm>
            <a:custGeom>
              <a:avLst/>
              <a:gdLst/>
              <a:ahLst/>
              <a:cxnLst/>
              <a:rect r="r" b="b" t="t" l="l"/>
              <a:pathLst>
                <a:path h="124672" w="124672">
                  <a:moveTo>
                    <a:pt x="0" y="0"/>
                  </a:moveTo>
                  <a:lnTo>
                    <a:pt x="124672" y="0"/>
                  </a:lnTo>
                  <a:lnTo>
                    <a:pt x="124672" y="124672"/>
                  </a:lnTo>
                  <a:lnTo>
                    <a:pt x="0" y="124672"/>
                  </a:lnTo>
                  <a:close/>
                </a:path>
              </a:pathLst>
            </a:custGeom>
            <a:gradFill rotWithShape="true">
              <a:gsLst>
                <a:gs pos="0">
                  <a:srgbClr val="002E34">
                    <a:alpha val="100000"/>
                  </a:srgbClr>
                </a:gs>
                <a:gs pos="100000">
                  <a:srgbClr val="5DC1D3">
                    <a:alpha val="100000"/>
                  </a:srgbClr>
                </a:gs>
              </a:gsLst>
              <a:lin ang="2700000"/>
            </a:gradFill>
          </p:spPr>
        </p:sp>
        <p:sp>
          <p:nvSpPr>
            <p:cNvPr name="TextBox 11" id="11"/>
            <p:cNvSpPr txBox="true"/>
            <p:nvPr/>
          </p:nvSpPr>
          <p:spPr>
            <a:xfrm>
              <a:off x="0" y="19050"/>
              <a:ext cx="124672" cy="105622"/>
            </a:xfrm>
            <a:prstGeom prst="rect">
              <a:avLst/>
            </a:prstGeom>
          </p:spPr>
          <p:txBody>
            <a:bodyPr anchor="ctr" rtlCol="false" tIns="50800" lIns="50800" bIns="50800" rIns="50800"/>
            <a:lstStyle/>
            <a:p>
              <a:pPr algn="ctr">
                <a:lnSpc>
                  <a:spcPts val="2750"/>
                </a:lnSpc>
              </a:pPr>
            </a:p>
          </p:txBody>
        </p:sp>
      </p:grpSp>
      <p:grpSp>
        <p:nvGrpSpPr>
          <p:cNvPr name="Group 12" id="12"/>
          <p:cNvGrpSpPr/>
          <p:nvPr/>
        </p:nvGrpSpPr>
        <p:grpSpPr>
          <a:xfrm rot="0">
            <a:off x="12142284" y="6978042"/>
            <a:ext cx="473364" cy="473364"/>
            <a:chOff x="0" y="0"/>
            <a:chExt cx="124672" cy="124672"/>
          </a:xfrm>
        </p:grpSpPr>
        <p:sp>
          <p:nvSpPr>
            <p:cNvPr name="Freeform 13" id="13"/>
            <p:cNvSpPr/>
            <p:nvPr/>
          </p:nvSpPr>
          <p:spPr>
            <a:xfrm flipH="false" flipV="false" rot="0">
              <a:off x="0" y="0"/>
              <a:ext cx="124672" cy="124672"/>
            </a:xfrm>
            <a:custGeom>
              <a:avLst/>
              <a:gdLst/>
              <a:ahLst/>
              <a:cxnLst/>
              <a:rect r="r" b="b" t="t" l="l"/>
              <a:pathLst>
                <a:path h="124672" w="124672">
                  <a:moveTo>
                    <a:pt x="0" y="0"/>
                  </a:moveTo>
                  <a:lnTo>
                    <a:pt x="124672" y="0"/>
                  </a:lnTo>
                  <a:lnTo>
                    <a:pt x="124672" y="124672"/>
                  </a:lnTo>
                  <a:lnTo>
                    <a:pt x="0" y="124672"/>
                  </a:lnTo>
                  <a:close/>
                </a:path>
              </a:pathLst>
            </a:custGeom>
            <a:gradFill rotWithShape="true">
              <a:gsLst>
                <a:gs pos="0">
                  <a:srgbClr val="002E34">
                    <a:alpha val="100000"/>
                  </a:srgbClr>
                </a:gs>
                <a:gs pos="100000">
                  <a:srgbClr val="5DC1D3">
                    <a:alpha val="100000"/>
                  </a:srgbClr>
                </a:gs>
              </a:gsLst>
              <a:lin ang="2700000"/>
            </a:gradFill>
          </p:spPr>
        </p:sp>
        <p:sp>
          <p:nvSpPr>
            <p:cNvPr name="TextBox 14" id="14"/>
            <p:cNvSpPr txBox="true"/>
            <p:nvPr/>
          </p:nvSpPr>
          <p:spPr>
            <a:xfrm>
              <a:off x="0" y="19050"/>
              <a:ext cx="124672" cy="105622"/>
            </a:xfrm>
            <a:prstGeom prst="rect">
              <a:avLst/>
            </a:prstGeom>
          </p:spPr>
          <p:txBody>
            <a:bodyPr anchor="ctr" rtlCol="false" tIns="50800" lIns="50800" bIns="50800" rIns="50800"/>
            <a:lstStyle/>
            <a:p>
              <a:pPr algn="ctr">
                <a:lnSpc>
                  <a:spcPts val="2750"/>
                </a:lnSpc>
              </a:pPr>
            </a:p>
          </p:txBody>
        </p:sp>
      </p:grpSp>
      <p:sp>
        <p:nvSpPr>
          <p:cNvPr name="Freeform 15" id="15"/>
          <p:cNvSpPr/>
          <p:nvPr/>
        </p:nvSpPr>
        <p:spPr>
          <a:xfrm flipH="false" flipV="false" rot="-10800000">
            <a:off x="-1325144" y="8229600"/>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780365" y="1957937"/>
            <a:ext cx="4132536" cy="7037841"/>
            <a:chOff x="0" y="0"/>
            <a:chExt cx="1125538" cy="1916828"/>
          </a:xfrm>
        </p:grpSpPr>
        <p:sp>
          <p:nvSpPr>
            <p:cNvPr name="Freeform 17" id="17"/>
            <p:cNvSpPr/>
            <p:nvPr/>
          </p:nvSpPr>
          <p:spPr>
            <a:xfrm flipH="false" flipV="false" rot="0">
              <a:off x="0" y="0"/>
              <a:ext cx="1125538" cy="1916828"/>
            </a:xfrm>
            <a:custGeom>
              <a:avLst/>
              <a:gdLst/>
              <a:ahLst/>
              <a:cxnLst/>
              <a:rect r="r" b="b" t="t" l="l"/>
              <a:pathLst>
                <a:path h="1916828" w="1125538">
                  <a:moveTo>
                    <a:pt x="0" y="0"/>
                  </a:moveTo>
                  <a:lnTo>
                    <a:pt x="1125538" y="0"/>
                  </a:lnTo>
                  <a:lnTo>
                    <a:pt x="1125538" y="1916828"/>
                  </a:lnTo>
                  <a:lnTo>
                    <a:pt x="0" y="1916828"/>
                  </a:lnTo>
                  <a:close/>
                </a:path>
              </a:pathLst>
            </a:custGeom>
            <a:blipFill>
              <a:blip r:embed="rId5"/>
              <a:stretch>
                <a:fillRect l="-77687" t="0" r="-77687" b="0"/>
              </a:stretch>
            </a:blipFill>
            <a:ln cap="sq">
              <a:noFill/>
              <a:prstDash val="solid"/>
              <a:miter/>
            </a:ln>
          </p:spPr>
        </p:sp>
      </p:grpSp>
      <p:sp>
        <p:nvSpPr>
          <p:cNvPr name="Freeform 18" id="18"/>
          <p:cNvSpPr/>
          <p:nvPr/>
        </p:nvSpPr>
        <p:spPr>
          <a:xfrm flipH="false" flipV="false" rot="0">
            <a:off x="7265025" y="4693069"/>
            <a:ext cx="144376" cy="236682"/>
          </a:xfrm>
          <a:custGeom>
            <a:avLst/>
            <a:gdLst/>
            <a:ahLst/>
            <a:cxnLst/>
            <a:rect r="r" b="b" t="t" l="l"/>
            <a:pathLst>
              <a:path h="236682" w="144376">
                <a:moveTo>
                  <a:pt x="0" y="0"/>
                </a:moveTo>
                <a:lnTo>
                  <a:pt x="144376" y="0"/>
                </a:lnTo>
                <a:lnTo>
                  <a:pt x="144376" y="236681"/>
                </a:lnTo>
                <a:lnTo>
                  <a:pt x="0" y="236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2306778" y="4693069"/>
            <a:ext cx="144376" cy="236682"/>
          </a:xfrm>
          <a:custGeom>
            <a:avLst/>
            <a:gdLst/>
            <a:ahLst/>
            <a:cxnLst/>
            <a:rect r="r" b="b" t="t" l="l"/>
            <a:pathLst>
              <a:path h="236682" w="144376">
                <a:moveTo>
                  <a:pt x="0" y="0"/>
                </a:moveTo>
                <a:lnTo>
                  <a:pt x="144376" y="0"/>
                </a:lnTo>
                <a:lnTo>
                  <a:pt x="144376" y="236681"/>
                </a:lnTo>
                <a:lnTo>
                  <a:pt x="0" y="236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7265025" y="7082096"/>
            <a:ext cx="144376" cy="236682"/>
          </a:xfrm>
          <a:custGeom>
            <a:avLst/>
            <a:gdLst/>
            <a:ahLst/>
            <a:cxnLst/>
            <a:rect r="r" b="b" t="t" l="l"/>
            <a:pathLst>
              <a:path h="236682" w="144376">
                <a:moveTo>
                  <a:pt x="0" y="0"/>
                </a:moveTo>
                <a:lnTo>
                  <a:pt x="144376" y="0"/>
                </a:lnTo>
                <a:lnTo>
                  <a:pt x="144376" y="236681"/>
                </a:lnTo>
                <a:lnTo>
                  <a:pt x="0" y="236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12306778" y="7082096"/>
            <a:ext cx="144376" cy="236682"/>
          </a:xfrm>
          <a:custGeom>
            <a:avLst/>
            <a:gdLst/>
            <a:ahLst/>
            <a:cxnLst/>
            <a:rect r="r" b="b" t="t" l="l"/>
            <a:pathLst>
              <a:path h="236682" w="144376">
                <a:moveTo>
                  <a:pt x="0" y="0"/>
                </a:moveTo>
                <a:lnTo>
                  <a:pt x="144376" y="0"/>
                </a:lnTo>
                <a:lnTo>
                  <a:pt x="144376" y="236681"/>
                </a:lnTo>
                <a:lnTo>
                  <a:pt x="0" y="2366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56330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7100531" y="1774983"/>
            <a:ext cx="10764727" cy="1835150"/>
          </a:xfrm>
          <a:prstGeom prst="rect">
            <a:avLst/>
          </a:prstGeom>
        </p:spPr>
        <p:txBody>
          <a:bodyPr anchor="t" rtlCol="false" tIns="0" lIns="0" bIns="0" rIns="0">
            <a:spAutoFit/>
          </a:bodyPr>
          <a:lstStyle/>
          <a:p>
            <a:pPr algn="l">
              <a:lnSpc>
                <a:spcPts val="7150"/>
              </a:lnSpc>
            </a:pPr>
            <a:r>
              <a:rPr lang="en-US" sz="6500" b="true">
                <a:solidFill>
                  <a:srgbClr val="FFFFFF"/>
                </a:solidFill>
                <a:latin typeface="TT Lakes Neue Bold"/>
                <a:ea typeface="TT Lakes Neue Bold"/>
                <a:cs typeface="TT Lakes Neue Bold"/>
                <a:sym typeface="TT Lakes Neue Bold"/>
              </a:rPr>
              <a:t>Cybersecurity Frameworks &amp; Solutions</a:t>
            </a:r>
          </a:p>
        </p:txBody>
      </p:sp>
      <p:sp>
        <p:nvSpPr>
          <p:cNvPr name="TextBox 24" id="24"/>
          <p:cNvSpPr txBox="true"/>
          <p:nvPr/>
        </p:nvSpPr>
        <p:spPr>
          <a:xfrm rot="0">
            <a:off x="7927921" y="4579490"/>
            <a:ext cx="2038003" cy="355600"/>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TOOLS</a:t>
            </a:r>
          </a:p>
        </p:txBody>
      </p:sp>
      <p:sp>
        <p:nvSpPr>
          <p:cNvPr name="TextBox 25" id="25"/>
          <p:cNvSpPr txBox="true"/>
          <p:nvPr/>
        </p:nvSpPr>
        <p:spPr>
          <a:xfrm rot="0">
            <a:off x="12975075" y="4579490"/>
            <a:ext cx="3621424" cy="355600"/>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ZERO TRUST MODEL</a:t>
            </a:r>
          </a:p>
        </p:txBody>
      </p:sp>
      <p:sp>
        <p:nvSpPr>
          <p:cNvPr name="TextBox 26" id="26"/>
          <p:cNvSpPr txBox="true"/>
          <p:nvPr/>
        </p:nvSpPr>
        <p:spPr>
          <a:xfrm rot="0">
            <a:off x="7927921" y="6935180"/>
            <a:ext cx="2893864" cy="355600"/>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FRAMEWORK</a:t>
            </a:r>
          </a:p>
        </p:txBody>
      </p:sp>
      <p:sp>
        <p:nvSpPr>
          <p:cNvPr name="TextBox 27" id="27"/>
          <p:cNvSpPr txBox="true"/>
          <p:nvPr/>
        </p:nvSpPr>
        <p:spPr>
          <a:xfrm rot="0">
            <a:off x="12975075" y="6935180"/>
            <a:ext cx="2038003" cy="355666"/>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RECOVER</a:t>
            </a:r>
          </a:p>
        </p:txBody>
      </p:sp>
      <p:sp>
        <p:nvSpPr>
          <p:cNvPr name="TextBox 28" id="28"/>
          <p:cNvSpPr txBox="true"/>
          <p:nvPr/>
        </p:nvSpPr>
        <p:spPr>
          <a:xfrm rot="0">
            <a:off x="7927921" y="5222033"/>
            <a:ext cx="3621424" cy="98996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a:t>
            </a:r>
          </a:p>
        </p:txBody>
      </p:sp>
      <p:sp>
        <p:nvSpPr>
          <p:cNvPr name="TextBox 29" id="29"/>
          <p:cNvSpPr txBox="true"/>
          <p:nvPr/>
        </p:nvSpPr>
        <p:spPr>
          <a:xfrm rot="0">
            <a:off x="12975075" y="5222033"/>
            <a:ext cx="3621424" cy="98996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a:t>
            </a:r>
          </a:p>
        </p:txBody>
      </p:sp>
      <p:sp>
        <p:nvSpPr>
          <p:cNvPr name="TextBox 30" id="30"/>
          <p:cNvSpPr txBox="true"/>
          <p:nvPr/>
        </p:nvSpPr>
        <p:spPr>
          <a:xfrm rot="0">
            <a:off x="7927921" y="7576530"/>
            <a:ext cx="3621424" cy="98996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a:t>
            </a:r>
          </a:p>
        </p:txBody>
      </p:sp>
      <p:sp>
        <p:nvSpPr>
          <p:cNvPr name="TextBox 31" id="31"/>
          <p:cNvSpPr txBox="true"/>
          <p:nvPr/>
        </p:nvSpPr>
        <p:spPr>
          <a:xfrm rot="0">
            <a:off x="12975075" y="7576530"/>
            <a:ext cx="3621424" cy="98996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a:t>
            </a:r>
          </a:p>
        </p:txBody>
      </p:sp>
      <p:sp>
        <p:nvSpPr>
          <p:cNvPr name="TextBox 32" id="32"/>
          <p:cNvSpPr txBox="true"/>
          <p:nvPr/>
        </p:nvSpPr>
        <p:spPr>
          <a:xfrm rot="0">
            <a:off x="1309968"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grpSp>
        <p:nvGrpSpPr>
          <p:cNvPr name="Group 33" id="33"/>
          <p:cNvGrpSpPr/>
          <p:nvPr/>
        </p:nvGrpSpPr>
        <p:grpSpPr>
          <a:xfrm rot="5400000">
            <a:off x="16660024" y="42013"/>
            <a:ext cx="1481641" cy="740820"/>
            <a:chOff x="0" y="0"/>
            <a:chExt cx="812800" cy="406400"/>
          </a:xfrm>
        </p:grpSpPr>
        <p:sp>
          <p:nvSpPr>
            <p:cNvPr name="Freeform 34" id="34"/>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35" id="35"/>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sp>
        <p:nvSpPr>
          <p:cNvPr name="TextBox 36" id="36"/>
          <p:cNvSpPr txBox="true"/>
          <p:nvPr/>
        </p:nvSpPr>
        <p:spPr>
          <a:xfrm rot="0">
            <a:off x="17044598" y="431473"/>
            <a:ext cx="712493"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05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865614" y="3939671"/>
            <a:ext cx="7263022" cy="2263288"/>
            <a:chOff x="0" y="0"/>
            <a:chExt cx="1155423" cy="360051"/>
          </a:xfrm>
        </p:grpSpPr>
        <p:sp>
          <p:nvSpPr>
            <p:cNvPr name="Freeform 4" id="4"/>
            <p:cNvSpPr/>
            <p:nvPr/>
          </p:nvSpPr>
          <p:spPr>
            <a:xfrm flipH="false" flipV="false" rot="0">
              <a:off x="0" y="0"/>
              <a:ext cx="1155423" cy="360051"/>
            </a:xfrm>
            <a:custGeom>
              <a:avLst/>
              <a:gdLst/>
              <a:ahLst/>
              <a:cxnLst/>
              <a:rect r="r" b="b" t="t" l="l"/>
              <a:pathLst>
                <a:path h="360051" w="1155423">
                  <a:moveTo>
                    <a:pt x="0" y="0"/>
                  </a:moveTo>
                  <a:lnTo>
                    <a:pt x="1155423" y="0"/>
                  </a:lnTo>
                  <a:lnTo>
                    <a:pt x="1155423" y="360051"/>
                  </a:lnTo>
                  <a:lnTo>
                    <a:pt x="0" y="360051"/>
                  </a:lnTo>
                  <a:close/>
                </a:path>
              </a:pathLst>
            </a:custGeom>
            <a:blipFill>
              <a:blip r:embed="rId3"/>
              <a:stretch>
                <a:fillRect l="0" t="-40254" r="0" b="-40254"/>
              </a:stretch>
            </a:blipFill>
            <a:ln cap="sq">
              <a:noFill/>
              <a:prstDash val="solid"/>
              <a:miter/>
            </a:ln>
          </p:spPr>
        </p:sp>
      </p:grpSp>
      <p:grpSp>
        <p:nvGrpSpPr>
          <p:cNvPr name="Group 5" id="5"/>
          <p:cNvGrpSpPr/>
          <p:nvPr/>
        </p:nvGrpSpPr>
        <p:grpSpPr>
          <a:xfrm rot="0">
            <a:off x="1865614" y="6460264"/>
            <a:ext cx="7278386" cy="2418541"/>
            <a:chOff x="0" y="0"/>
            <a:chExt cx="1073609" cy="356750"/>
          </a:xfrm>
        </p:grpSpPr>
        <p:sp>
          <p:nvSpPr>
            <p:cNvPr name="Freeform 6" id="6"/>
            <p:cNvSpPr/>
            <p:nvPr/>
          </p:nvSpPr>
          <p:spPr>
            <a:xfrm flipH="false" flipV="false" rot="0">
              <a:off x="0" y="0"/>
              <a:ext cx="1073609" cy="356750"/>
            </a:xfrm>
            <a:custGeom>
              <a:avLst/>
              <a:gdLst/>
              <a:ahLst/>
              <a:cxnLst/>
              <a:rect r="r" b="b" t="t" l="l"/>
              <a:pathLst>
                <a:path h="356750" w="1073609">
                  <a:moveTo>
                    <a:pt x="0" y="0"/>
                  </a:moveTo>
                  <a:lnTo>
                    <a:pt x="1073609" y="0"/>
                  </a:lnTo>
                  <a:lnTo>
                    <a:pt x="1073609" y="356750"/>
                  </a:lnTo>
                  <a:lnTo>
                    <a:pt x="0" y="356750"/>
                  </a:lnTo>
                  <a:close/>
                </a:path>
              </a:pathLst>
            </a:custGeom>
            <a:blipFill>
              <a:blip r:embed="rId4"/>
              <a:stretch>
                <a:fillRect l="0" t="-62852" r="0" b="-62852"/>
              </a:stretch>
            </a:blipFill>
            <a:ln cap="sq">
              <a:noFill/>
              <a:prstDash val="solid"/>
              <a:miter/>
            </a:ln>
          </p:spPr>
        </p:sp>
      </p:grpSp>
      <p:grpSp>
        <p:nvGrpSpPr>
          <p:cNvPr name="Group 7" id="7"/>
          <p:cNvGrpSpPr/>
          <p:nvPr/>
        </p:nvGrpSpPr>
        <p:grpSpPr>
          <a:xfrm rot="0">
            <a:off x="10396895" y="2453917"/>
            <a:ext cx="903555" cy="903555"/>
            <a:chOff x="0" y="0"/>
            <a:chExt cx="237973" cy="237973"/>
          </a:xfrm>
        </p:grpSpPr>
        <p:sp>
          <p:nvSpPr>
            <p:cNvPr name="Freeform 8" id="8"/>
            <p:cNvSpPr/>
            <p:nvPr/>
          </p:nvSpPr>
          <p:spPr>
            <a:xfrm flipH="false" flipV="false" rot="0">
              <a:off x="0" y="0"/>
              <a:ext cx="237973" cy="237973"/>
            </a:xfrm>
            <a:custGeom>
              <a:avLst/>
              <a:gdLst/>
              <a:ahLst/>
              <a:cxnLst/>
              <a:rect r="r" b="b" t="t" l="l"/>
              <a:pathLst>
                <a:path h="237973" w="237973">
                  <a:moveTo>
                    <a:pt x="0" y="0"/>
                  </a:moveTo>
                  <a:lnTo>
                    <a:pt x="237973" y="0"/>
                  </a:lnTo>
                  <a:lnTo>
                    <a:pt x="237973" y="237973"/>
                  </a:lnTo>
                  <a:lnTo>
                    <a:pt x="0" y="237973"/>
                  </a:lnTo>
                  <a:close/>
                </a:path>
              </a:pathLst>
            </a:custGeom>
            <a:gradFill rotWithShape="true">
              <a:gsLst>
                <a:gs pos="0">
                  <a:srgbClr val="002E34">
                    <a:alpha val="100000"/>
                  </a:srgbClr>
                </a:gs>
                <a:gs pos="100000">
                  <a:srgbClr val="5DC1D3">
                    <a:alpha val="100000"/>
                  </a:srgbClr>
                </a:gs>
              </a:gsLst>
              <a:lin ang="2700000"/>
            </a:gradFill>
          </p:spPr>
        </p:sp>
        <p:sp>
          <p:nvSpPr>
            <p:cNvPr name="TextBox 9" id="9"/>
            <p:cNvSpPr txBox="true"/>
            <p:nvPr/>
          </p:nvSpPr>
          <p:spPr>
            <a:xfrm>
              <a:off x="0" y="19050"/>
              <a:ext cx="237973" cy="218923"/>
            </a:xfrm>
            <a:prstGeom prst="rect">
              <a:avLst/>
            </a:prstGeom>
          </p:spPr>
          <p:txBody>
            <a:bodyPr anchor="ctr" rtlCol="false" tIns="50800" lIns="50800" bIns="50800" rIns="50800"/>
            <a:lstStyle/>
            <a:p>
              <a:pPr algn="ctr">
                <a:lnSpc>
                  <a:spcPts val="2750"/>
                </a:lnSpc>
              </a:pPr>
            </a:p>
          </p:txBody>
        </p:sp>
      </p:grpSp>
      <p:grpSp>
        <p:nvGrpSpPr>
          <p:cNvPr name="Group 10" id="10"/>
          <p:cNvGrpSpPr/>
          <p:nvPr/>
        </p:nvGrpSpPr>
        <p:grpSpPr>
          <a:xfrm rot="0">
            <a:off x="10396895" y="4817966"/>
            <a:ext cx="903555" cy="903555"/>
            <a:chOff x="0" y="0"/>
            <a:chExt cx="237973" cy="237973"/>
          </a:xfrm>
        </p:grpSpPr>
        <p:sp>
          <p:nvSpPr>
            <p:cNvPr name="Freeform 11" id="11"/>
            <p:cNvSpPr/>
            <p:nvPr/>
          </p:nvSpPr>
          <p:spPr>
            <a:xfrm flipH="false" flipV="false" rot="0">
              <a:off x="0" y="0"/>
              <a:ext cx="237973" cy="237973"/>
            </a:xfrm>
            <a:custGeom>
              <a:avLst/>
              <a:gdLst/>
              <a:ahLst/>
              <a:cxnLst/>
              <a:rect r="r" b="b" t="t" l="l"/>
              <a:pathLst>
                <a:path h="237973" w="237973">
                  <a:moveTo>
                    <a:pt x="0" y="0"/>
                  </a:moveTo>
                  <a:lnTo>
                    <a:pt x="237973" y="0"/>
                  </a:lnTo>
                  <a:lnTo>
                    <a:pt x="237973" y="237973"/>
                  </a:lnTo>
                  <a:lnTo>
                    <a:pt x="0" y="237973"/>
                  </a:lnTo>
                  <a:close/>
                </a:path>
              </a:pathLst>
            </a:custGeom>
            <a:gradFill rotWithShape="true">
              <a:gsLst>
                <a:gs pos="0">
                  <a:srgbClr val="002E34">
                    <a:alpha val="100000"/>
                  </a:srgbClr>
                </a:gs>
                <a:gs pos="100000">
                  <a:srgbClr val="5DC1D3">
                    <a:alpha val="100000"/>
                  </a:srgbClr>
                </a:gs>
              </a:gsLst>
              <a:lin ang="2700000"/>
            </a:gradFill>
          </p:spPr>
        </p:sp>
        <p:sp>
          <p:nvSpPr>
            <p:cNvPr name="TextBox 12" id="12"/>
            <p:cNvSpPr txBox="true"/>
            <p:nvPr/>
          </p:nvSpPr>
          <p:spPr>
            <a:xfrm>
              <a:off x="0" y="19050"/>
              <a:ext cx="237973" cy="218923"/>
            </a:xfrm>
            <a:prstGeom prst="rect">
              <a:avLst/>
            </a:prstGeom>
          </p:spPr>
          <p:txBody>
            <a:bodyPr anchor="ctr" rtlCol="false" tIns="50800" lIns="50800" bIns="50800" rIns="50800"/>
            <a:lstStyle/>
            <a:p>
              <a:pPr algn="ctr">
                <a:lnSpc>
                  <a:spcPts val="2750"/>
                </a:lnSpc>
              </a:pPr>
            </a:p>
          </p:txBody>
        </p:sp>
      </p:grpSp>
      <p:grpSp>
        <p:nvGrpSpPr>
          <p:cNvPr name="Group 13" id="13"/>
          <p:cNvGrpSpPr/>
          <p:nvPr/>
        </p:nvGrpSpPr>
        <p:grpSpPr>
          <a:xfrm rot="0">
            <a:off x="10396895" y="7133914"/>
            <a:ext cx="903555" cy="903555"/>
            <a:chOff x="0" y="0"/>
            <a:chExt cx="237973" cy="237973"/>
          </a:xfrm>
        </p:grpSpPr>
        <p:sp>
          <p:nvSpPr>
            <p:cNvPr name="Freeform 14" id="14"/>
            <p:cNvSpPr/>
            <p:nvPr/>
          </p:nvSpPr>
          <p:spPr>
            <a:xfrm flipH="false" flipV="false" rot="0">
              <a:off x="0" y="0"/>
              <a:ext cx="237973" cy="237973"/>
            </a:xfrm>
            <a:custGeom>
              <a:avLst/>
              <a:gdLst/>
              <a:ahLst/>
              <a:cxnLst/>
              <a:rect r="r" b="b" t="t" l="l"/>
              <a:pathLst>
                <a:path h="237973" w="237973">
                  <a:moveTo>
                    <a:pt x="0" y="0"/>
                  </a:moveTo>
                  <a:lnTo>
                    <a:pt x="237973" y="0"/>
                  </a:lnTo>
                  <a:lnTo>
                    <a:pt x="237973" y="237973"/>
                  </a:lnTo>
                  <a:lnTo>
                    <a:pt x="0" y="237973"/>
                  </a:lnTo>
                  <a:close/>
                </a:path>
              </a:pathLst>
            </a:custGeom>
            <a:gradFill rotWithShape="true">
              <a:gsLst>
                <a:gs pos="0">
                  <a:srgbClr val="002E34">
                    <a:alpha val="100000"/>
                  </a:srgbClr>
                </a:gs>
                <a:gs pos="100000">
                  <a:srgbClr val="5DC1D3">
                    <a:alpha val="100000"/>
                  </a:srgbClr>
                </a:gs>
              </a:gsLst>
              <a:lin ang="2700000"/>
            </a:gradFill>
          </p:spPr>
        </p:sp>
        <p:sp>
          <p:nvSpPr>
            <p:cNvPr name="TextBox 15" id="15"/>
            <p:cNvSpPr txBox="true"/>
            <p:nvPr/>
          </p:nvSpPr>
          <p:spPr>
            <a:xfrm>
              <a:off x="0" y="19050"/>
              <a:ext cx="237973" cy="218923"/>
            </a:xfrm>
            <a:prstGeom prst="rect">
              <a:avLst/>
            </a:prstGeom>
          </p:spPr>
          <p:txBody>
            <a:bodyPr anchor="ctr" rtlCol="false" tIns="50800" lIns="50800" bIns="50800" rIns="50800"/>
            <a:lstStyle/>
            <a:p>
              <a:pPr algn="ctr">
                <a:lnSpc>
                  <a:spcPts val="2750"/>
                </a:lnSpc>
              </a:pPr>
            </a:p>
          </p:txBody>
        </p:sp>
      </p:grpSp>
      <p:sp>
        <p:nvSpPr>
          <p:cNvPr name="Freeform 16" id="16"/>
          <p:cNvSpPr/>
          <p:nvPr/>
        </p:nvSpPr>
        <p:spPr>
          <a:xfrm flipH="false" flipV="false" rot="0">
            <a:off x="56330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865614" y="1663789"/>
            <a:ext cx="6972957" cy="1835150"/>
          </a:xfrm>
          <a:prstGeom prst="rect">
            <a:avLst/>
          </a:prstGeom>
        </p:spPr>
        <p:txBody>
          <a:bodyPr anchor="t" rtlCol="false" tIns="0" lIns="0" bIns="0" rIns="0">
            <a:spAutoFit/>
          </a:bodyPr>
          <a:lstStyle/>
          <a:p>
            <a:pPr algn="l">
              <a:lnSpc>
                <a:spcPts val="7150"/>
              </a:lnSpc>
            </a:pPr>
            <a:r>
              <a:rPr lang="en-US" sz="6500" b="true">
                <a:solidFill>
                  <a:srgbClr val="FFFFFF"/>
                </a:solidFill>
                <a:latin typeface="TT Lakes Neue Bold"/>
                <a:ea typeface="TT Lakes Neue Bold"/>
                <a:cs typeface="TT Lakes Neue Bold"/>
                <a:sym typeface="TT Lakes Neue Bold"/>
              </a:rPr>
              <a:t>High-Profile Cyber Attacks</a:t>
            </a:r>
          </a:p>
        </p:txBody>
      </p:sp>
      <p:sp>
        <p:nvSpPr>
          <p:cNvPr name="TextBox 18" id="18"/>
          <p:cNvSpPr txBox="true"/>
          <p:nvPr/>
        </p:nvSpPr>
        <p:spPr>
          <a:xfrm rot="0">
            <a:off x="11666537" y="2989325"/>
            <a:ext cx="5592763" cy="989964"/>
          </a:xfrm>
          <a:prstGeom prst="rect">
            <a:avLst/>
          </a:prstGeom>
        </p:spPr>
        <p:txBody>
          <a:bodyPr anchor="t" rtlCol="false" tIns="0" lIns="0" bIns="0" rIns="0">
            <a:spAutoFit/>
          </a:bodyPr>
          <a:lstStyle/>
          <a:p>
            <a:pPr algn="l">
              <a:lnSpc>
                <a:spcPts val="2660"/>
              </a:lnSpc>
            </a:pPr>
            <a:r>
              <a:rPr lang="en-US" sz="1900">
                <a:solidFill>
                  <a:srgbClr val="98AAB6"/>
                </a:solidFill>
                <a:latin typeface="Canva Sans"/>
                <a:ea typeface="Canva Sans"/>
                <a:cs typeface="Canva Sans"/>
                <a:sym typeface="Canva Sans"/>
              </a:rPr>
              <a:t>Lorem ipsum </a:t>
            </a:r>
            <a:r>
              <a:rPr lang="en-US" sz="1900">
                <a:solidFill>
                  <a:srgbClr val="98AAB6"/>
                </a:solidFill>
                <a:latin typeface="Canva Sans"/>
                <a:ea typeface="Canva Sans"/>
                <a:cs typeface="Canva Sans"/>
                <a:sym typeface="Canva Sans"/>
              </a:rPr>
              <a:t>dolor sit amet, consectetur adipiscing elit, sed do eiusmod tempor incididunt ut labore et dolore magna aliqua.</a:t>
            </a:r>
          </a:p>
        </p:txBody>
      </p:sp>
      <p:sp>
        <p:nvSpPr>
          <p:cNvPr name="TextBox 19" id="19"/>
          <p:cNvSpPr txBox="true"/>
          <p:nvPr/>
        </p:nvSpPr>
        <p:spPr>
          <a:xfrm rot="0">
            <a:off x="11666537" y="5356516"/>
            <a:ext cx="5372665" cy="989964"/>
          </a:xfrm>
          <a:prstGeom prst="rect">
            <a:avLst/>
          </a:prstGeom>
        </p:spPr>
        <p:txBody>
          <a:bodyPr anchor="t" rtlCol="false" tIns="0" lIns="0" bIns="0" rIns="0">
            <a:spAutoFit/>
          </a:bodyPr>
          <a:lstStyle/>
          <a:p>
            <a:pPr algn="l">
              <a:lnSpc>
                <a:spcPts val="2660"/>
              </a:lnSpc>
            </a:pPr>
            <a:r>
              <a:rPr lang="en-US" sz="1900">
                <a:solidFill>
                  <a:srgbClr val="98AAB6"/>
                </a:solidFill>
                <a:latin typeface="Canva Sans"/>
                <a:ea typeface="Canva Sans"/>
                <a:cs typeface="Canva Sans"/>
                <a:sym typeface="Canva Sans"/>
              </a:rPr>
              <a:t>Lorem ipsum </a:t>
            </a:r>
            <a:r>
              <a:rPr lang="en-US" sz="1900">
                <a:solidFill>
                  <a:srgbClr val="98AAB6"/>
                </a:solidFill>
                <a:latin typeface="Canva Sans"/>
                <a:ea typeface="Canva Sans"/>
                <a:cs typeface="Canva Sans"/>
                <a:sym typeface="Canva Sans"/>
              </a:rPr>
              <a:t>dolor sit amet, consectetur adipiscing elit, sed do eiusmod tempor incididunt ut labore et dolore magna aliqua.</a:t>
            </a:r>
          </a:p>
        </p:txBody>
      </p:sp>
      <p:sp>
        <p:nvSpPr>
          <p:cNvPr name="TextBox 20" id="20"/>
          <p:cNvSpPr txBox="true"/>
          <p:nvPr/>
        </p:nvSpPr>
        <p:spPr>
          <a:xfrm rot="0">
            <a:off x="11666537" y="7672463"/>
            <a:ext cx="5372665" cy="989964"/>
          </a:xfrm>
          <a:prstGeom prst="rect">
            <a:avLst/>
          </a:prstGeom>
        </p:spPr>
        <p:txBody>
          <a:bodyPr anchor="t" rtlCol="false" tIns="0" lIns="0" bIns="0" rIns="0">
            <a:spAutoFit/>
          </a:bodyPr>
          <a:lstStyle/>
          <a:p>
            <a:pPr algn="l">
              <a:lnSpc>
                <a:spcPts val="2660"/>
              </a:lnSpc>
            </a:pPr>
            <a:r>
              <a:rPr lang="en-US" sz="1900">
                <a:solidFill>
                  <a:srgbClr val="98AAB6"/>
                </a:solidFill>
                <a:latin typeface="Canva Sans"/>
                <a:ea typeface="Canva Sans"/>
                <a:cs typeface="Canva Sans"/>
                <a:sym typeface="Canva Sans"/>
              </a:rPr>
              <a:t>Lorem ipsum </a:t>
            </a:r>
            <a:r>
              <a:rPr lang="en-US" sz="1900">
                <a:solidFill>
                  <a:srgbClr val="98AAB6"/>
                </a:solidFill>
                <a:latin typeface="Canva Sans"/>
                <a:ea typeface="Canva Sans"/>
                <a:cs typeface="Canva Sans"/>
                <a:sym typeface="Canva Sans"/>
              </a:rPr>
              <a:t>dolor sit amet, consectetur adipiscing elit, sed do eiusmod tempor incididunt ut labore et dolore magna aliqua.</a:t>
            </a:r>
          </a:p>
        </p:txBody>
      </p:sp>
      <p:sp>
        <p:nvSpPr>
          <p:cNvPr name="TextBox 21" id="21"/>
          <p:cNvSpPr txBox="true"/>
          <p:nvPr/>
        </p:nvSpPr>
        <p:spPr>
          <a:xfrm rot="0">
            <a:off x="11666537" y="2387242"/>
            <a:ext cx="2183146" cy="355563"/>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Case Study 1</a:t>
            </a:r>
          </a:p>
        </p:txBody>
      </p:sp>
      <p:sp>
        <p:nvSpPr>
          <p:cNvPr name="TextBox 22" id="22"/>
          <p:cNvSpPr txBox="true"/>
          <p:nvPr/>
        </p:nvSpPr>
        <p:spPr>
          <a:xfrm rot="0">
            <a:off x="11666537" y="4754433"/>
            <a:ext cx="2626660" cy="355563"/>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Case Study 2</a:t>
            </a:r>
          </a:p>
        </p:txBody>
      </p:sp>
      <p:sp>
        <p:nvSpPr>
          <p:cNvPr name="TextBox 23" id="23"/>
          <p:cNvSpPr txBox="true"/>
          <p:nvPr/>
        </p:nvSpPr>
        <p:spPr>
          <a:xfrm rot="0">
            <a:off x="11666537" y="7070380"/>
            <a:ext cx="2626660" cy="355563"/>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Case Study 3</a:t>
            </a:r>
          </a:p>
        </p:txBody>
      </p:sp>
      <p:sp>
        <p:nvSpPr>
          <p:cNvPr name="TextBox 24" id="24"/>
          <p:cNvSpPr txBox="true"/>
          <p:nvPr/>
        </p:nvSpPr>
        <p:spPr>
          <a:xfrm rot="0">
            <a:off x="10396895" y="2761958"/>
            <a:ext cx="881604" cy="355666"/>
          </a:xfrm>
          <a:prstGeom prst="rect">
            <a:avLst/>
          </a:prstGeom>
        </p:spPr>
        <p:txBody>
          <a:bodyPr anchor="t" rtlCol="false" tIns="0" lIns="0" bIns="0" rIns="0">
            <a:spAutoFit/>
          </a:bodyPr>
          <a:lstStyle/>
          <a:p>
            <a:pPr algn="ctr">
              <a:lnSpc>
                <a:spcPts val="2749"/>
              </a:lnSpc>
            </a:pPr>
            <a:r>
              <a:rPr lang="en-US" sz="2499" b="true">
                <a:solidFill>
                  <a:srgbClr val="FFFFFF"/>
                </a:solidFill>
                <a:latin typeface="Inter Bold"/>
                <a:ea typeface="Inter Bold"/>
                <a:cs typeface="Inter Bold"/>
                <a:sym typeface="Inter Bold"/>
              </a:rPr>
              <a:t>01</a:t>
            </a:r>
          </a:p>
        </p:txBody>
      </p:sp>
      <p:sp>
        <p:nvSpPr>
          <p:cNvPr name="TextBox 25" id="25"/>
          <p:cNvSpPr txBox="true"/>
          <p:nvPr/>
        </p:nvSpPr>
        <p:spPr>
          <a:xfrm rot="0">
            <a:off x="10396895" y="5101436"/>
            <a:ext cx="881604" cy="355666"/>
          </a:xfrm>
          <a:prstGeom prst="rect">
            <a:avLst/>
          </a:prstGeom>
        </p:spPr>
        <p:txBody>
          <a:bodyPr anchor="t" rtlCol="false" tIns="0" lIns="0" bIns="0" rIns="0">
            <a:spAutoFit/>
          </a:bodyPr>
          <a:lstStyle/>
          <a:p>
            <a:pPr algn="ctr">
              <a:lnSpc>
                <a:spcPts val="2749"/>
              </a:lnSpc>
            </a:pPr>
            <a:r>
              <a:rPr lang="en-US" sz="2499" b="true">
                <a:solidFill>
                  <a:srgbClr val="FFFFFF"/>
                </a:solidFill>
                <a:latin typeface="Inter Bold"/>
                <a:ea typeface="Inter Bold"/>
                <a:cs typeface="Inter Bold"/>
                <a:sym typeface="Inter Bold"/>
              </a:rPr>
              <a:t>02</a:t>
            </a:r>
          </a:p>
        </p:txBody>
      </p:sp>
      <p:sp>
        <p:nvSpPr>
          <p:cNvPr name="TextBox 26" id="26"/>
          <p:cNvSpPr txBox="true"/>
          <p:nvPr/>
        </p:nvSpPr>
        <p:spPr>
          <a:xfrm rot="0">
            <a:off x="10396895" y="7417383"/>
            <a:ext cx="881604" cy="355563"/>
          </a:xfrm>
          <a:prstGeom prst="rect">
            <a:avLst/>
          </a:prstGeom>
        </p:spPr>
        <p:txBody>
          <a:bodyPr anchor="t" rtlCol="false" tIns="0" lIns="0" bIns="0" rIns="0">
            <a:spAutoFit/>
          </a:bodyPr>
          <a:lstStyle/>
          <a:p>
            <a:pPr algn="ctr">
              <a:lnSpc>
                <a:spcPts val="2749"/>
              </a:lnSpc>
            </a:pPr>
            <a:r>
              <a:rPr lang="en-US" sz="2499" b="true">
                <a:solidFill>
                  <a:srgbClr val="FFFFFF"/>
                </a:solidFill>
                <a:latin typeface="Inter Bold"/>
                <a:ea typeface="Inter Bold"/>
                <a:cs typeface="Inter Bold"/>
                <a:sym typeface="Inter Bold"/>
              </a:rPr>
              <a:t>03</a:t>
            </a:r>
          </a:p>
        </p:txBody>
      </p:sp>
      <p:sp>
        <p:nvSpPr>
          <p:cNvPr name="TextBox 27" id="27"/>
          <p:cNvSpPr txBox="true"/>
          <p:nvPr/>
        </p:nvSpPr>
        <p:spPr>
          <a:xfrm rot="0">
            <a:off x="1309968"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grpSp>
        <p:nvGrpSpPr>
          <p:cNvPr name="Group 28" id="28"/>
          <p:cNvGrpSpPr/>
          <p:nvPr/>
        </p:nvGrpSpPr>
        <p:grpSpPr>
          <a:xfrm rot="5400000">
            <a:off x="16660024" y="42013"/>
            <a:ext cx="1481641" cy="740820"/>
            <a:chOff x="0" y="0"/>
            <a:chExt cx="812800" cy="406400"/>
          </a:xfrm>
        </p:grpSpPr>
        <p:sp>
          <p:nvSpPr>
            <p:cNvPr name="Freeform 29" id="29"/>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30" id="30"/>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sp>
        <p:nvSpPr>
          <p:cNvPr name="TextBox 31" id="31"/>
          <p:cNvSpPr txBox="true"/>
          <p:nvPr/>
        </p:nvSpPr>
        <p:spPr>
          <a:xfrm rot="0">
            <a:off x="17044598" y="431473"/>
            <a:ext cx="712493"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06</a:t>
            </a:r>
          </a:p>
        </p:txBody>
      </p:sp>
      <p:sp>
        <p:nvSpPr>
          <p:cNvPr name="Freeform 32" id="32"/>
          <p:cNvSpPr/>
          <p:nvPr/>
        </p:nvSpPr>
        <p:spPr>
          <a:xfrm flipH="false" flipV="false" rot="0">
            <a:off x="5733062" y="-2385797"/>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7">
              <a:alphaModFix amt="26000"/>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097" t="0" r="-1097" b="0"/>
            </a:stretch>
          </a:blipFill>
        </p:spPr>
      </p:sp>
      <p:grpSp>
        <p:nvGrpSpPr>
          <p:cNvPr name="Group 3" id="3"/>
          <p:cNvGrpSpPr/>
          <p:nvPr/>
        </p:nvGrpSpPr>
        <p:grpSpPr>
          <a:xfrm rot="0">
            <a:off x="1989090" y="7494952"/>
            <a:ext cx="6291371" cy="767827"/>
            <a:chOff x="0" y="0"/>
            <a:chExt cx="6025782" cy="735413"/>
          </a:xfrm>
        </p:grpSpPr>
        <p:sp>
          <p:nvSpPr>
            <p:cNvPr name="Freeform 4" id="4"/>
            <p:cNvSpPr/>
            <p:nvPr/>
          </p:nvSpPr>
          <p:spPr>
            <a:xfrm flipH="false" flipV="false" rot="0">
              <a:off x="0" y="0"/>
              <a:ext cx="6025782" cy="735413"/>
            </a:xfrm>
            <a:custGeom>
              <a:avLst/>
              <a:gdLst/>
              <a:ahLst/>
              <a:cxnLst/>
              <a:rect r="r" b="b" t="t" l="l"/>
              <a:pathLst>
                <a:path h="735413" w="6025782">
                  <a:moveTo>
                    <a:pt x="203200" y="0"/>
                  </a:moveTo>
                  <a:lnTo>
                    <a:pt x="6025782" y="0"/>
                  </a:lnTo>
                  <a:lnTo>
                    <a:pt x="5822582" y="735413"/>
                  </a:lnTo>
                  <a:lnTo>
                    <a:pt x="0" y="735413"/>
                  </a:lnTo>
                  <a:lnTo>
                    <a:pt x="203200" y="0"/>
                  </a:lnTo>
                  <a:close/>
                </a:path>
              </a:pathLst>
            </a:custGeom>
            <a:gradFill rotWithShape="true">
              <a:gsLst>
                <a:gs pos="0">
                  <a:srgbClr val="002E34">
                    <a:alpha val="100000"/>
                  </a:srgbClr>
                </a:gs>
                <a:gs pos="100000">
                  <a:srgbClr val="5DC1D3">
                    <a:alpha val="100000"/>
                  </a:srgbClr>
                </a:gs>
              </a:gsLst>
              <a:lin ang="2700000"/>
            </a:gradFill>
          </p:spPr>
        </p:sp>
        <p:sp>
          <p:nvSpPr>
            <p:cNvPr name="TextBox 5" id="5"/>
            <p:cNvSpPr txBox="true"/>
            <p:nvPr/>
          </p:nvSpPr>
          <p:spPr>
            <a:xfrm>
              <a:off x="101600" y="19050"/>
              <a:ext cx="5822582" cy="716363"/>
            </a:xfrm>
            <a:prstGeom prst="rect">
              <a:avLst/>
            </a:prstGeom>
          </p:spPr>
          <p:txBody>
            <a:bodyPr anchor="ctr" rtlCol="false" tIns="50800" lIns="50800" bIns="50800" rIns="50800"/>
            <a:lstStyle/>
            <a:p>
              <a:pPr algn="ctr">
                <a:lnSpc>
                  <a:spcPts val="2750"/>
                </a:lnSpc>
              </a:pPr>
            </a:p>
          </p:txBody>
        </p:sp>
      </p:grpSp>
      <p:sp>
        <p:nvSpPr>
          <p:cNvPr name="Freeform 6" id="6"/>
          <p:cNvSpPr/>
          <p:nvPr/>
        </p:nvSpPr>
        <p:spPr>
          <a:xfrm flipH="false" flipV="false" rot="0">
            <a:off x="56330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89090" y="2386171"/>
            <a:ext cx="11018027" cy="5108781"/>
          </a:xfrm>
          <a:prstGeom prst="rect">
            <a:avLst/>
          </a:prstGeom>
        </p:spPr>
        <p:txBody>
          <a:bodyPr anchor="t" rtlCol="false" tIns="0" lIns="0" bIns="0" rIns="0">
            <a:spAutoFit/>
          </a:bodyPr>
          <a:lstStyle/>
          <a:p>
            <a:pPr algn="l">
              <a:lnSpc>
                <a:spcPts val="19636"/>
              </a:lnSpc>
            </a:pPr>
            <a:r>
              <a:rPr lang="en-US" sz="19636">
                <a:solidFill>
                  <a:srgbClr val="FFFFFF"/>
                </a:solidFill>
                <a:latin typeface="Zcool QingKe HuangYou"/>
                <a:ea typeface="Zcool QingKe HuangYou"/>
                <a:cs typeface="Zcool QingKe HuangYou"/>
                <a:sym typeface="Zcool QingKe HuangYou"/>
              </a:rPr>
              <a:t>BREAK</a:t>
            </a:r>
          </a:p>
          <a:p>
            <a:pPr algn="l">
              <a:lnSpc>
                <a:spcPts val="19636"/>
              </a:lnSpc>
            </a:pPr>
            <a:r>
              <a:rPr lang="en-US" sz="19636">
                <a:solidFill>
                  <a:srgbClr val="FFFFFF"/>
                </a:solidFill>
                <a:latin typeface="Zcool QingKe HuangYou"/>
                <a:ea typeface="Zcool QingKe HuangYou"/>
                <a:cs typeface="Zcool QingKe HuangYou"/>
                <a:sym typeface="Zcool QingKe HuangYou"/>
              </a:rPr>
              <a:t>SECTIONS</a:t>
            </a:r>
          </a:p>
        </p:txBody>
      </p:sp>
      <p:sp>
        <p:nvSpPr>
          <p:cNvPr name="TextBox 8" id="8"/>
          <p:cNvSpPr txBox="true"/>
          <p:nvPr/>
        </p:nvSpPr>
        <p:spPr>
          <a:xfrm rot="0">
            <a:off x="2530441" y="7710557"/>
            <a:ext cx="5602804" cy="355600"/>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WE’LL BE BACK IN A FEW MINUTES</a:t>
            </a:r>
          </a:p>
        </p:txBody>
      </p:sp>
      <p:sp>
        <p:nvSpPr>
          <p:cNvPr name="TextBox 9" id="9"/>
          <p:cNvSpPr txBox="true"/>
          <p:nvPr/>
        </p:nvSpPr>
        <p:spPr>
          <a:xfrm rot="0">
            <a:off x="1309968"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grpSp>
        <p:nvGrpSpPr>
          <p:cNvPr name="Group 10" id="10"/>
          <p:cNvGrpSpPr/>
          <p:nvPr/>
        </p:nvGrpSpPr>
        <p:grpSpPr>
          <a:xfrm rot="5400000">
            <a:off x="16660024" y="42013"/>
            <a:ext cx="1481641" cy="740820"/>
            <a:chOff x="0" y="0"/>
            <a:chExt cx="812800" cy="406400"/>
          </a:xfrm>
        </p:grpSpPr>
        <p:sp>
          <p:nvSpPr>
            <p:cNvPr name="Freeform 11" id="11"/>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12" id="12"/>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sp>
        <p:nvSpPr>
          <p:cNvPr name="TextBox 13" id="13"/>
          <p:cNvSpPr txBox="true"/>
          <p:nvPr/>
        </p:nvSpPr>
        <p:spPr>
          <a:xfrm rot="0">
            <a:off x="17044598" y="431473"/>
            <a:ext cx="712493"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07</a:t>
            </a:r>
          </a:p>
        </p:txBody>
      </p:sp>
      <p:sp>
        <p:nvSpPr>
          <p:cNvPr name="Freeform 14" id="14"/>
          <p:cNvSpPr/>
          <p:nvPr/>
        </p:nvSpPr>
        <p:spPr>
          <a:xfrm flipH="false" flipV="false" rot="-10800000">
            <a:off x="14404045" y="7935201"/>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5">
              <a:alphaModFix amt="26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414166" y="3739798"/>
            <a:ext cx="2772197" cy="2382356"/>
            <a:chOff x="0" y="0"/>
            <a:chExt cx="812800" cy="698500"/>
          </a:xfrm>
        </p:grpSpPr>
        <p:sp>
          <p:nvSpPr>
            <p:cNvPr name="Freeform 4" id="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002E34">
                    <a:alpha val="100000"/>
                  </a:srgbClr>
                </a:gs>
                <a:gs pos="100000">
                  <a:srgbClr val="5DC1D3">
                    <a:alpha val="100000"/>
                  </a:srgbClr>
                </a:gs>
              </a:gsLst>
              <a:lin ang="2700000"/>
            </a:gradFill>
          </p:spPr>
        </p:sp>
        <p:sp>
          <p:nvSpPr>
            <p:cNvPr name="TextBox 5" id="5"/>
            <p:cNvSpPr txBox="true"/>
            <p:nvPr/>
          </p:nvSpPr>
          <p:spPr>
            <a:xfrm>
              <a:off x="114300" y="19050"/>
              <a:ext cx="584200" cy="679450"/>
            </a:xfrm>
            <a:prstGeom prst="rect">
              <a:avLst/>
            </a:prstGeom>
          </p:spPr>
          <p:txBody>
            <a:bodyPr anchor="ctr" rtlCol="false" tIns="50800" lIns="50800" bIns="50800" rIns="50800"/>
            <a:lstStyle/>
            <a:p>
              <a:pPr algn="ctr">
                <a:lnSpc>
                  <a:spcPts val="2750"/>
                </a:lnSpc>
              </a:pPr>
            </a:p>
          </p:txBody>
        </p:sp>
      </p:grpSp>
      <p:grpSp>
        <p:nvGrpSpPr>
          <p:cNvPr name="Group 6" id="6"/>
          <p:cNvGrpSpPr/>
          <p:nvPr/>
        </p:nvGrpSpPr>
        <p:grpSpPr>
          <a:xfrm rot="0">
            <a:off x="7999698" y="3739798"/>
            <a:ext cx="2772197" cy="2382356"/>
            <a:chOff x="0" y="0"/>
            <a:chExt cx="812800" cy="698500"/>
          </a:xfrm>
        </p:grpSpPr>
        <p:sp>
          <p:nvSpPr>
            <p:cNvPr name="Freeform 7" id="7"/>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002E34">
                    <a:alpha val="100000"/>
                  </a:srgbClr>
                </a:gs>
                <a:gs pos="100000">
                  <a:srgbClr val="5DC1D3">
                    <a:alpha val="100000"/>
                  </a:srgbClr>
                </a:gs>
              </a:gsLst>
              <a:lin ang="2700000"/>
            </a:gradFill>
          </p:spPr>
        </p:sp>
        <p:sp>
          <p:nvSpPr>
            <p:cNvPr name="TextBox 8" id="8"/>
            <p:cNvSpPr txBox="true"/>
            <p:nvPr/>
          </p:nvSpPr>
          <p:spPr>
            <a:xfrm>
              <a:off x="114300" y="19050"/>
              <a:ext cx="584200" cy="679450"/>
            </a:xfrm>
            <a:prstGeom prst="rect">
              <a:avLst/>
            </a:prstGeom>
          </p:spPr>
          <p:txBody>
            <a:bodyPr anchor="ctr" rtlCol="false" tIns="50800" lIns="50800" bIns="50800" rIns="50800"/>
            <a:lstStyle/>
            <a:p>
              <a:pPr algn="ctr">
                <a:lnSpc>
                  <a:spcPts val="2750"/>
                </a:lnSpc>
              </a:pPr>
            </a:p>
          </p:txBody>
        </p:sp>
      </p:grpSp>
      <p:grpSp>
        <p:nvGrpSpPr>
          <p:cNvPr name="Group 9" id="9"/>
          <p:cNvGrpSpPr/>
          <p:nvPr/>
        </p:nvGrpSpPr>
        <p:grpSpPr>
          <a:xfrm rot="0">
            <a:off x="13364593" y="3739798"/>
            <a:ext cx="2772197" cy="2382356"/>
            <a:chOff x="0" y="0"/>
            <a:chExt cx="812800" cy="698500"/>
          </a:xfrm>
        </p:grpSpPr>
        <p:sp>
          <p:nvSpPr>
            <p:cNvPr name="Freeform 10" id="10"/>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gradFill rotWithShape="true">
              <a:gsLst>
                <a:gs pos="0">
                  <a:srgbClr val="002E34">
                    <a:alpha val="100000"/>
                  </a:srgbClr>
                </a:gs>
                <a:gs pos="100000">
                  <a:srgbClr val="5DC1D3">
                    <a:alpha val="100000"/>
                  </a:srgbClr>
                </a:gs>
              </a:gsLst>
              <a:lin ang="2700000"/>
            </a:gradFill>
          </p:spPr>
        </p:sp>
        <p:sp>
          <p:nvSpPr>
            <p:cNvPr name="TextBox 11" id="11"/>
            <p:cNvSpPr txBox="true"/>
            <p:nvPr/>
          </p:nvSpPr>
          <p:spPr>
            <a:xfrm>
              <a:off x="114300" y="19050"/>
              <a:ext cx="584200" cy="679450"/>
            </a:xfrm>
            <a:prstGeom prst="rect">
              <a:avLst/>
            </a:prstGeom>
          </p:spPr>
          <p:txBody>
            <a:bodyPr anchor="ctr" rtlCol="false" tIns="50800" lIns="50800" bIns="50800" rIns="50800"/>
            <a:lstStyle/>
            <a:p>
              <a:pPr algn="ctr">
                <a:lnSpc>
                  <a:spcPts val="2750"/>
                </a:lnSpc>
              </a:pPr>
            </a:p>
          </p:txBody>
        </p:sp>
      </p:grpSp>
      <p:sp>
        <p:nvSpPr>
          <p:cNvPr name="Freeform 12" id="12"/>
          <p:cNvSpPr/>
          <p:nvPr/>
        </p:nvSpPr>
        <p:spPr>
          <a:xfrm flipH="false" flipV="false" rot="0">
            <a:off x="14237509" y="4435223"/>
            <a:ext cx="1026366" cy="918597"/>
          </a:xfrm>
          <a:custGeom>
            <a:avLst/>
            <a:gdLst/>
            <a:ahLst/>
            <a:cxnLst/>
            <a:rect r="r" b="b" t="t" l="l"/>
            <a:pathLst>
              <a:path h="918597" w="1026366">
                <a:moveTo>
                  <a:pt x="0" y="0"/>
                </a:moveTo>
                <a:lnTo>
                  <a:pt x="1026366" y="0"/>
                </a:lnTo>
                <a:lnTo>
                  <a:pt x="1026366" y="918598"/>
                </a:lnTo>
                <a:lnTo>
                  <a:pt x="0" y="9185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56330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5400000">
            <a:off x="16660024" y="42013"/>
            <a:ext cx="1481641" cy="740820"/>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16" id="16"/>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sp>
        <p:nvSpPr>
          <p:cNvPr name="Freeform 17" id="17"/>
          <p:cNvSpPr/>
          <p:nvPr/>
        </p:nvSpPr>
        <p:spPr>
          <a:xfrm flipH="false" flipV="false" rot="0">
            <a:off x="3334381" y="4435223"/>
            <a:ext cx="931767" cy="1078746"/>
          </a:xfrm>
          <a:custGeom>
            <a:avLst/>
            <a:gdLst/>
            <a:ahLst/>
            <a:cxnLst/>
            <a:rect r="r" b="b" t="t" l="l"/>
            <a:pathLst>
              <a:path h="1078746" w="931767">
                <a:moveTo>
                  <a:pt x="0" y="0"/>
                </a:moveTo>
                <a:lnTo>
                  <a:pt x="931767" y="0"/>
                </a:lnTo>
                <a:lnTo>
                  <a:pt x="931767" y="1078746"/>
                </a:lnTo>
                <a:lnTo>
                  <a:pt x="0" y="10787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8816230" y="4324956"/>
            <a:ext cx="1139132" cy="1139132"/>
          </a:xfrm>
          <a:custGeom>
            <a:avLst/>
            <a:gdLst/>
            <a:ahLst/>
            <a:cxnLst/>
            <a:rect r="r" b="b" t="t" l="l"/>
            <a:pathLst>
              <a:path h="1139132" w="1139132">
                <a:moveTo>
                  <a:pt x="0" y="0"/>
                </a:moveTo>
                <a:lnTo>
                  <a:pt x="1139133" y="0"/>
                </a:lnTo>
                <a:lnTo>
                  <a:pt x="1139133" y="1139132"/>
                </a:lnTo>
                <a:lnTo>
                  <a:pt x="0" y="11391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3800264" y="1942799"/>
            <a:ext cx="10687471" cy="930275"/>
          </a:xfrm>
          <a:prstGeom prst="rect">
            <a:avLst/>
          </a:prstGeom>
        </p:spPr>
        <p:txBody>
          <a:bodyPr anchor="t" rtlCol="false" tIns="0" lIns="0" bIns="0" rIns="0">
            <a:spAutoFit/>
          </a:bodyPr>
          <a:lstStyle/>
          <a:p>
            <a:pPr algn="ctr">
              <a:lnSpc>
                <a:spcPts val="7150"/>
              </a:lnSpc>
            </a:pPr>
            <a:r>
              <a:rPr lang="en-US" sz="6500" b="true">
                <a:solidFill>
                  <a:srgbClr val="FFFFFF"/>
                </a:solidFill>
                <a:latin typeface="TT Lakes Neue Bold"/>
                <a:ea typeface="TT Lakes Neue Bold"/>
                <a:cs typeface="TT Lakes Neue Bold"/>
                <a:sym typeface="TT Lakes Neue Bold"/>
              </a:rPr>
              <a:t>AI in Cybersecurity</a:t>
            </a:r>
          </a:p>
        </p:txBody>
      </p:sp>
      <p:sp>
        <p:nvSpPr>
          <p:cNvPr name="TextBox 20" id="20"/>
          <p:cNvSpPr txBox="true"/>
          <p:nvPr/>
        </p:nvSpPr>
        <p:spPr>
          <a:xfrm rot="0">
            <a:off x="8367360" y="6598456"/>
            <a:ext cx="2036872"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OFFENSE</a:t>
            </a:r>
          </a:p>
        </p:txBody>
      </p:sp>
      <p:sp>
        <p:nvSpPr>
          <p:cNvPr name="TextBox 21" id="21"/>
          <p:cNvSpPr txBox="true"/>
          <p:nvPr/>
        </p:nvSpPr>
        <p:spPr>
          <a:xfrm rot="0">
            <a:off x="13866633" y="6598456"/>
            <a:ext cx="1768117" cy="355600"/>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FUTURE</a:t>
            </a:r>
          </a:p>
        </p:txBody>
      </p:sp>
      <p:sp>
        <p:nvSpPr>
          <p:cNvPr name="TextBox 22" id="22"/>
          <p:cNvSpPr txBox="true"/>
          <p:nvPr/>
        </p:nvSpPr>
        <p:spPr>
          <a:xfrm rot="0">
            <a:off x="2902272" y="6598456"/>
            <a:ext cx="2002687"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DEFENSE</a:t>
            </a:r>
          </a:p>
        </p:txBody>
      </p:sp>
      <p:sp>
        <p:nvSpPr>
          <p:cNvPr name="TextBox 23" id="23"/>
          <p:cNvSpPr txBox="true"/>
          <p:nvPr/>
        </p:nvSpPr>
        <p:spPr>
          <a:xfrm rot="0">
            <a:off x="7617680" y="7240999"/>
            <a:ext cx="3536233" cy="1656714"/>
          </a:xfrm>
          <a:prstGeom prst="rect">
            <a:avLst/>
          </a:prstGeom>
        </p:spPr>
        <p:txBody>
          <a:bodyPr anchor="t" rtlCol="false" tIns="0" lIns="0" bIns="0" rIns="0">
            <a:spAutoFit/>
          </a:bodyPr>
          <a:lstStyle/>
          <a:p>
            <a:pPr algn="ctr">
              <a:lnSpc>
                <a:spcPts val="2660"/>
              </a:lnSpc>
            </a:pPr>
            <a:r>
              <a:rPr lang="en-US" sz="1900">
                <a:solidFill>
                  <a:srgbClr val="98AAB6"/>
                </a:solidFill>
                <a:latin typeface="Canva Sans"/>
                <a:ea typeface="Canva Sans"/>
                <a:cs typeface="Canva Sans"/>
                <a:sym typeface="Canva Sans"/>
              </a:rPr>
              <a:t>Lorem ipsum </a:t>
            </a:r>
            <a:r>
              <a:rPr lang="en-US" sz="1900">
                <a:solidFill>
                  <a:srgbClr val="98AAB6"/>
                </a:solidFill>
                <a:latin typeface="Canva Sans"/>
                <a:ea typeface="Canva Sans"/>
                <a:cs typeface="Canva Sans"/>
                <a:sym typeface="Canva Sans"/>
              </a:rPr>
              <a:t>dolor sit amet, consectetur adipiscing elit, sed do eiusmod tempor incididunt ut labore et dolore magna aliqua. </a:t>
            </a:r>
          </a:p>
        </p:txBody>
      </p:sp>
      <p:sp>
        <p:nvSpPr>
          <p:cNvPr name="TextBox 24" id="24"/>
          <p:cNvSpPr txBox="true"/>
          <p:nvPr/>
        </p:nvSpPr>
        <p:spPr>
          <a:xfrm rot="0">
            <a:off x="12982575" y="7240999"/>
            <a:ext cx="3536233" cy="1656714"/>
          </a:xfrm>
          <a:prstGeom prst="rect">
            <a:avLst/>
          </a:prstGeom>
        </p:spPr>
        <p:txBody>
          <a:bodyPr anchor="t" rtlCol="false" tIns="0" lIns="0" bIns="0" rIns="0">
            <a:spAutoFit/>
          </a:bodyPr>
          <a:lstStyle/>
          <a:p>
            <a:pPr algn="ctr">
              <a:lnSpc>
                <a:spcPts val="2660"/>
              </a:lnSpc>
            </a:pPr>
            <a:r>
              <a:rPr lang="en-US" sz="1900">
                <a:solidFill>
                  <a:srgbClr val="98AAB6"/>
                </a:solidFill>
                <a:latin typeface="Canva Sans"/>
                <a:ea typeface="Canva Sans"/>
                <a:cs typeface="Canva Sans"/>
                <a:sym typeface="Canva Sans"/>
              </a:rPr>
              <a:t>Lorem ipsum </a:t>
            </a:r>
            <a:r>
              <a:rPr lang="en-US" sz="1900">
                <a:solidFill>
                  <a:srgbClr val="98AAB6"/>
                </a:solidFill>
                <a:latin typeface="Canva Sans"/>
                <a:ea typeface="Canva Sans"/>
                <a:cs typeface="Canva Sans"/>
                <a:sym typeface="Canva Sans"/>
              </a:rPr>
              <a:t>dolor sit amet, consectetur adipiscing elit, sed do eiusmod tempor incididunt ut labore et dolore magna aliqua. </a:t>
            </a:r>
          </a:p>
        </p:txBody>
      </p:sp>
      <p:sp>
        <p:nvSpPr>
          <p:cNvPr name="TextBox 25" id="25"/>
          <p:cNvSpPr txBox="true"/>
          <p:nvPr/>
        </p:nvSpPr>
        <p:spPr>
          <a:xfrm rot="0">
            <a:off x="2113766" y="7240999"/>
            <a:ext cx="3579699" cy="1656714"/>
          </a:xfrm>
          <a:prstGeom prst="rect">
            <a:avLst/>
          </a:prstGeom>
        </p:spPr>
        <p:txBody>
          <a:bodyPr anchor="t" rtlCol="false" tIns="0" lIns="0" bIns="0" rIns="0">
            <a:spAutoFit/>
          </a:bodyPr>
          <a:lstStyle/>
          <a:p>
            <a:pPr algn="ctr">
              <a:lnSpc>
                <a:spcPts val="2660"/>
              </a:lnSpc>
            </a:pPr>
            <a:r>
              <a:rPr lang="en-US" sz="1900">
                <a:solidFill>
                  <a:srgbClr val="98AAB6"/>
                </a:solidFill>
                <a:latin typeface="Canva Sans"/>
                <a:ea typeface="Canva Sans"/>
                <a:cs typeface="Canva Sans"/>
                <a:sym typeface="Canva Sans"/>
              </a:rPr>
              <a:t>Lorem ipsum </a:t>
            </a:r>
            <a:r>
              <a:rPr lang="en-US" sz="1900">
                <a:solidFill>
                  <a:srgbClr val="98AAB6"/>
                </a:solidFill>
                <a:latin typeface="Canva Sans"/>
                <a:ea typeface="Canva Sans"/>
                <a:cs typeface="Canva Sans"/>
                <a:sym typeface="Canva Sans"/>
              </a:rPr>
              <a:t>dolor sit amet, consectetur adipiscing elit, sed do eiusmod tempor incididunt ut labore et dolore magna aliqua. </a:t>
            </a:r>
          </a:p>
        </p:txBody>
      </p:sp>
      <p:sp>
        <p:nvSpPr>
          <p:cNvPr name="TextBox 26" id="26"/>
          <p:cNvSpPr txBox="true"/>
          <p:nvPr/>
        </p:nvSpPr>
        <p:spPr>
          <a:xfrm rot="0">
            <a:off x="1309968"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sp>
        <p:nvSpPr>
          <p:cNvPr name="TextBox 27" id="27"/>
          <p:cNvSpPr txBox="true"/>
          <p:nvPr/>
        </p:nvSpPr>
        <p:spPr>
          <a:xfrm rot="0">
            <a:off x="17044598" y="431473"/>
            <a:ext cx="712493"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08</a:t>
            </a:r>
          </a:p>
        </p:txBody>
      </p:sp>
      <p:sp>
        <p:nvSpPr>
          <p:cNvPr name="Freeform 28" id="28"/>
          <p:cNvSpPr/>
          <p:nvPr/>
        </p:nvSpPr>
        <p:spPr>
          <a:xfrm flipH="false" flipV="false" rot="-10800000">
            <a:off x="16705222" y="2917196"/>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11">
              <a:alphaModFix amt="26000"/>
              <a:extLst>
                <a:ext uri="{96DAC541-7B7A-43D3-8B79-37D633B846F1}">
                  <asvg:svgBlip xmlns:asvg="http://schemas.microsoft.com/office/drawing/2016/SVG/main" r:embed="rId12"/>
                </a:ext>
              </a:extLst>
            </a:blip>
            <a:stretch>
              <a:fillRect l="0" t="0" r="0" b="0"/>
            </a:stretch>
          </a:blipFill>
        </p:spPr>
      </p:sp>
      <p:sp>
        <p:nvSpPr>
          <p:cNvPr name="Freeform 29" id="29"/>
          <p:cNvSpPr/>
          <p:nvPr/>
        </p:nvSpPr>
        <p:spPr>
          <a:xfrm flipH="false" flipV="false" rot="0">
            <a:off x="-4780689" y="3296421"/>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11">
              <a:alphaModFix amt="26000"/>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035553" y="1865054"/>
            <a:ext cx="6542877" cy="6811097"/>
            <a:chOff x="0" y="0"/>
            <a:chExt cx="1861366" cy="1937671"/>
          </a:xfrm>
        </p:grpSpPr>
        <p:sp>
          <p:nvSpPr>
            <p:cNvPr name="Freeform 4" id="4"/>
            <p:cNvSpPr/>
            <p:nvPr/>
          </p:nvSpPr>
          <p:spPr>
            <a:xfrm flipH="false" flipV="false" rot="0">
              <a:off x="0" y="0"/>
              <a:ext cx="1861366" cy="1937671"/>
            </a:xfrm>
            <a:custGeom>
              <a:avLst/>
              <a:gdLst/>
              <a:ahLst/>
              <a:cxnLst/>
              <a:rect r="r" b="b" t="t" l="l"/>
              <a:pathLst>
                <a:path h="1937671" w="1861366">
                  <a:moveTo>
                    <a:pt x="0" y="0"/>
                  </a:moveTo>
                  <a:lnTo>
                    <a:pt x="1861366" y="0"/>
                  </a:lnTo>
                  <a:lnTo>
                    <a:pt x="1861366" y="1937671"/>
                  </a:lnTo>
                  <a:lnTo>
                    <a:pt x="0" y="1937671"/>
                  </a:lnTo>
                  <a:close/>
                </a:path>
              </a:pathLst>
            </a:custGeom>
            <a:blipFill>
              <a:blip r:embed="rId3"/>
              <a:stretch>
                <a:fillRect l="-28123" t="0" r="-28123" b="0"/>
              </a:stretch>
            </a:blipFill>
            <a:ln cap="sq">
              <a:noFill/>
              <a:prstDash val="solid"/>
              <a:miter/>
            </a:ln>
          </p:spPr>
        </p:sp>
      </p:grpSp>
      <p:sp>
        <p:nvSpPr>
          <p:cNvPr name="Freeform 5" id="5"/>
          <p:cNvSpPr/>
          <p:nvPr/>
        </p:nvSpPr>
        <p:spPr>
          <a:xfrm flipH="false" flipV="false" rot="0">
            <a:off x="56330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9610531" y="1922204"/>
            <a:ext cx="7498692" cy="1835150"/>
          </a:xfrm>
          <a:prstGeom prst="rect">
            <a:avLst/>
          </a:prstGeom>
        </p:spPr>
        <p:txBody>
          <a:bodyPr anchor="t" rtlCol="false" tIns="0" lIns="0" bIns="0" rIns="0">
            <a:spAutoFit/>
          </a:bodyPr>
          <a:lstStyle/>
          <a:p>
            <a:pPr algn="l">
              <a:lnSpc>
                <a:spcPts val="7150"/>
              </a:lnSpc>
            </a:pPr>
            <a:r>
              <a:rPr lang="en-US" sz="6500" b="true">
                <a:solidFill>
                  <a:srgbClr val="FFFFFF"/>
                </a:solidFill>
                <a:latin typeface="TT Lakes Neue Bold"/>
                <a:ea typeface="TT Lakes Neue Bold"/>
                <a:cs typeface="TT Lakes Neue Bold"/>
                <a:sym typeface="TT Lakes Neue Bold"/>
              </a:rPr>
              <a:t>Emerging Threats to Watch</a:t>
            </a:r>
          </a:p>
        </p:txBody>
      </p:sp>
      <p:sp>
        <p:nvSpPr>
          <p:cNvPr name="TextBox 7" id="7"/>
          <p:cNvSpPr txBox="true"/>
          <p:nvPr/>
        </p:nvSpPr>
        <p:spPr>
          <a:xfrm rot="0">
            <a:off x="9610531" y="4289080"/>
            <a:ext cx="5953382" cy="165671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8" id="8"/>
          <p:cNvSpPr txBox="true"/>
          <p:nvPr/>
        </p:nvSpPr>
        <p:spPr>
          <a:xfrm rot="0">
            <a:off x="9610531" y="6479195"/>
            <a:ext cx="5953382" cy="1656714"/>
          </a:xfrm>
          <a:prstGeom prst="rect">
            <a:avLst/>
          </a:prstGeom>
        </p:spPr>
        <p:txBody>
          <a:bodyPr anchor="t" rtlCol="false" tIns="0" lIns="0" bIns="0" rIns="0">
            <a:spAutoFit/>
          </a:bodyPr>
          <a:lstStyle/>
          <a:p>
            <a:pPr algn="l">
              <a:lnSpc>
                <a:spcPts val="2660"/>
              </a:lnSpc>
            </a:pPr>
            <a:r>
              <a:rPr lang="en-US" sz="1900">
                <a:solidFill>
                  <a:srgbClr val="98AAB6"/>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p>
        </p:txBody>
      </p:sp>
      <p:sp>
        <p:nvSpPr>
          <p:cNvPr name="TextBox 9" id="9"/>
          <p:cNvSpPr txBox="true"/>
          <p:nvPr/>
        </p:nvSpPr>
        <p:spPr>
          <a:xfrm rot="0">
            <a:off x="1309968"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grpSp>
        <p:nvGrpSpPr>
          <p:cNvPr name="Group 10" id="10"/>
          <p:cNvGrpSpPr/>
          <p:nvPr/>
        </p:nvGrpSpPr>
        <p:grpSpPr>
          <a:xfrm rot="5400000">
            <a:off x="16660024" y="42013"/>
            <a:ext cx="1481641" cy="740820"/>
            <a:chOff x="0" y="0"/>
            <a:chExt cx="812800" cy="406400"/>
          </a:xfrm>
        </p:grpSpPr>
        <p:sp>
          <p:nvSpPr>
            <p:cNvPr name="Freeform 11" id="11"/>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12" id="12"/>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sp>
        <p:nvSpPr>
          <p:cNvPr name="TextBox 13" id="13"/>
          <p:cNvSpPr txBox="true"/>
          <p:nvPr/>
        </p:nvSpPr>
        <p:spPr>
          <a:xfrm rot="0">
            <a:off x="17044598" y="431473"/>
            <a:ext cx="712493"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09</a:t>
            </a:r>
          </a:p>
        </p:txBody>
      </p:sp>
      <p:sp>
        <p:nvSpPr>
          <p:cNvPr name="Freeform 14" id="14"/>
          <p:cNvSpPr/>
          <p:nvPr/>
        </p:nvSpPr>
        <p:spPr>
          <a:xfrm flipH="false" flipV="false" rot="-10800000">
            <a:off x="14404045" y="7935201"/>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6">
              <a:alphaModFix amt="26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59" r="-14653" b="-26626"/>
            </a:stretch>
          </a:blipFill>
        </p:spPr>
      </p:sp>
      <p:grpSp>
        <p:nvGrpSpPr>
          <p:cNvPr name="Group 3" id="3"/>
          <p:cNvGrpSpPr/>
          <p:nvPr/>
        </p:nvGrpSpPr>
        <p:grpSpPr>
          <a:xfrm rot="0">
            <a:off x="10710504" y="5910644"/>
            <a:ext cx="5277669" cy="724820"/>
            <a:chOff x="0" y="0"/>
            <a:chExt cx="1390003" cy="190899"/>
          </a:xfrm>
        </p:grpSpPr>
        <p:sp>
          <p:nvSpPr>
            <p:cNvPr name="Freeform 4" id="4"/>
            <p:cNvSpPr/>
            <p:nvPr/>
          </p:nvSpPr>
          <p:spPr>
            <a:xfrm flipH="false" flipV="false" rot="0">
              <a:off x="0" y="0"/>
              <a:ext cx="1390003" cy="190899"/>
            </a:xfrm>
            <a:custGeom>
              <a:avLst/>
              <a:gdLst/>
              <a:ahLst/>
              <a:cxnLst/>
              <a:rect r="r" b="b" t="t" l="l"/>
              <a:pathLst>
                <a:path h="190899" w="1390003">
                  <a:moveTo>
                    <a:pt x="0" y="0"/>
                  </a:moveTo>
                  <a:lnTo>
                    <a:pt x="1390003" y="0"/>
                  </a:lnTo>
                  <a:lnTo>
                    <a:pt x="1390003" y="190899"/>
                  </a:lnTo>
                  <a:lnTo>
                    <a:pt x="0" y="190899"/>
                  </a:lnTo>
                  <a:close/>
                </a:path>
              </a:pathLst>
            </a:custGeom>
            <a:gradFill rotWithShape="true">
              <a:gsLst>
                <a:gs pos="0">
                  <a:srgbClr val="002E34">
                    <a:alpha val="100000"/>
                  </a:srgbClr>
                </a:gs>
                <a:gs pos="100000">
                  <a:srgbClr val="5DC1D3">
                    <a:alpha val="100000"/>
                  </a:srgbClr>
                </a:gs>
              </a:gsLst>
              <a:lin ang="2700000"/>
            </a:gradFill>
          </p:spPr>
        </p:sp>
        <p:sp>
          <p:nvSpPr>
            <p:cNvPr name="TextBox 5" id="5"/>
            <p:cNvSpPr txBox="true"/>
            <p:nvPr/>
          </p:nvSpPr>
          <p:spPr>
            <a:xfrm>
              <a:off x="0" y="19050"/>
              <a:ext cx="1390003" cy="171849"/>
            </a:xfrm>
            <a:prstGeom prst="rect">
              <a:avLst/>
            </a:prstGeom>
          </p:spPr>
          <p:txBody>
            <a:bodyPr anchor="ctr" rtlCol="false" tIns="50800" lIns="50800" bIns="50800" rIns="50800"/>
            <a:lstStyle/>
            <a:p>
              <a:pPr algn="ctr">
                <a:lnSpc>
                  <a:spcPts val="2750"/>
                </a:lnSpc>
              </a:pPr>
            </a:p>
          </p:txBody>
        </p:sp>
      </p:grpSp>
      <p:grpSp>
        <p:nvGrpSpPr>
          <p:cNvPr name="Group 6" id="6"/>
          <p:cNvGrpSpPr/>
          <p:nvPr/>
        </p:nvGrpSpPr>
        <p:grpSpPr>
          <a:xfrm rot="0">
            <a:off x="10710504" y="6950622"/>
            <a:ext cx="5277669" cy="724820"/>
            <a:chOff x="0" y="0"/>
            <a:chExt cx="1390003" cy="190899"/>
          </a:xfrm>
        </p:grpSpPr>
        <p:sp>
          <p:nvSpPr>
            <p:cNvPr name="Freeform 7" id="7"/>
            <p:cNvSpPr/>
            <p:nvPr/>
          </p:nvSpPr>
          <p:spPr>
            <a:xfrm flipH="false" flipV="false" rot="0">
              <a:off x="0" y="0"/>
              <a:ext cx="1390003" cy="190899"/>
            </a:xfrm>
            <a:custGeom>
              <a:avLst/>
              <a:gdLst/>
              <a:ahLst/>
              <a:cxnLst/>
              <a:rect r="r" b="b" t="t" l="l"/>
              <a:pathLst>
                <a:path h="190899" w="1390003">
                  <a:moveTo>
                    <a:pt x="0" y="0"/>
                  </a:moveTo>
                  <a:lnTo>
                    <a:pt x="1390003" y="0"/>
                  </a:lnTo>
                  <a:lnTo>
                    <a:pt x="1390003" y="190899"/>
                  </a:lnTo>
                  <a:lnTo>
                    <a:pt x="0" y="190899"/>
                  </a:lnTo>
                  <a:close/>
                </a:path>
              </a:pathLst>
            </a:custGeom>
            <a:gradFill rotWithShape="true">
              <a:gsLst>
                <a:gs pos="0">
                  <a:srgbClr val="002E34">
                    <a:alpha val="100000"/>
                  </a:srgbClr>
                </a:gs>
                <a:gs pos="100000">
                  <a:srgbClr val="5DC1D3">
                    <a:alpha val="100000"/>
                  </a:srgbClr>
                </a:gs>
              </a:gsLst>
              <a:lin ang="2700000"/>
            </a:gradFill>
          </p:spPr>
        </p:sp>
        <p:sp>
          <p:nvSpPr>
            <p:cNvPr name="TextBox 8" id="8"/>
            <p:cNvSpPr txBox="true"/>
            <p:nvPr/>
          </p:nvSpPr>
          <p:spPr>
            <a:xfrm>
              <a:off x="0" y="19050"/>
              <a:ext cx="1390003" cy="171849"/>
            </a:xfrm>
            <a:prstGeom prst="rect">
              <a:avLst/>
            </a:prstGeom>
          </p:spPr>
          <p:txBody>
            <a:bodyPr anchor="ctr" rtlCol="false" tIns="50800" lIns="50800" bIns="50800" rIns="50800"/>
            <a:lstStyle/>
            <a:p>
              <a:pPr algn="ctr">
                <a:lnSpc>
                  <a:spcPts val="2750"/>
                </a:lnSpc>
              </a:pPr>
            </a:p>
          </p:txBody>
        </p:sp>
      </p:grpSp>
      <p:grpSp>
        <p:nvGrpSpPr>
          <p:cNvPr name="Group 9" id="9"/>
          <p:cNvGrpSpPr/>
          <p:nvPr/>
        </p:nvGrpSpPr>
        <p:grpSpPr>
          <a:xfrm rot="0">
            <a:off x="10710504" y="8009649"/>
            <a:ext cx="5277669" cy="724820"/>
            <a:chOff x="0" y="0"/>
            <a:chExt cx="1390003" cy="190899"/>
          </a:xfrm>
        </p:grpSpPr>
        <p:sp>
          <p:nvSpPr>
            <p:cNvPr name="Freeform 10" id="10"/>
            <p:cNvSpPr/>
            <p:nvPr/>
          </p:nvSpPr>
          <p:spPr>
            <a:xfrm flipH="false" flipV="false" rot="0">
              <a:off x="0" y="0"/>
              <a:ext cx="1390003" cy="190899"/>
            </a:xfrm>
            <a:custGeom>
              <a:avLst/>
              <a:gdLst/>
              <a:ahLst/>
              <a:cxnLst/>
              <a:rect r="r" b="b" t="t" l="l"/>
              <a:pathLst>
                <a:path h="190899" w="1390003">
                  <a:moveTo>
                    <a:pt x="0" y="0"/>
                  </a:moveTo>
                  <a:lnTo>
                    <a:pt x="1390003" y="0"/>
                  </a:lnTo>
                  <a:lnTo>
                    <a:pt x="1390003" y="190899"/>
                  </a:lnTo>
                  <a:lnTo>
                    <a:pt x="0" y="190899"/>
                  </a:lnTo>
                  <a:close/>
                </a:path>
              </a:pathLst>
            </a:custGeom>
            <a:gradFill rotWithShape="true">
              <a:gsLst>
                <a:gs pos="0">
                  <a:srgbClr val="002E34">
                    <a:alpha val="100000"/>
                  </a:srgbClr>
                </a:gs>
                <a:gs pos="100000">
                  <a:srgbClr val="5DC1D3">
                    <a:alpha val="100000"/>
                  </a:srgbClr>
                </a:gs>
              </a:gsLst>
              <a:lin ang="2700000"/>
            </a:gradFill>
          </p:spPr>
        </p:sp>
        <p:sp>
          <p:nvSpPr>
            <p:cNvPr name="TextBox 11" id="11"/>
            <p:cNvSpPr txBox="true"/>
            <p:nvPr/>
          </p:nvSpPr>
          <p:spPr>
            <a:xfrm>
              <a:off x="0" y="19050"/>
              <a:ext cx="1390003" cy="171849"/>
            </a:xfrm>
            <a:prstGeom prst="rect">
              <a:avLst/>
            </a:prstGeom>
          </p:spPr>
          <p:txBody>
            <a:bodyPr anchor="ctr" rtlCol="false" tIns="50800" lIns="50800" bIns="50800" rIns="50800"/>
            <a:lstStyle/>
            <a:p>
              <a:pPr algn="ctr">
                <a:lnSpc>
                  <a:spcPts val="2750"/>
                </a:lnSpc>
              </a:pPr>
            </a:p>
          </p:txBody>
        </p:sp>
      </p:grpSp>
      <p:sp>
        <p:nvSpPr>
          <p:cNvPr name="Freeform 12" id="12"/>
          <p:cNvSpPr/>
          <p:nvPr/>
        </p:nvSpPr>
        <p:spPr>
          <a:xfrm flipH="false" flipV="false" rot="0">
            <a:off x="563306" y="545578"/>
            <a:ext cx="483122" cy="483122"/>
          </a:xfrm>
          <a:custGeom>
            <a:avLst/>
            <a:gdLst/>
            <a:ahLst/>
            <a:cxnLst/>
            <a:rect r="r" b="b" t="t" l="l"/>
            <a:pathLst>
              <a:path h="483122" w="483122">
                <a:moveTo>
                  <a:pt x="0" y="0"/>
                </a:moveTo>
                <a:lnTo>
                  <a:pt x="483122" y="0"/>
                </a:lnTo>
                <a:lnTo>
                  <a:pt x="483122" y="483122"/>
                </a:lnTo>
                <a:lnTo>
                  <a:pt x="0" y="4831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1515833" y="8203784"/>
            <a:ext cx="4588640" cy="355600"/>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123 Anywhere St., Any City</a:t>
            </a:r>
          </a:p>
        </p:txBody>
      </p:sp>
      <p:grpSp>
        <p:nvGrpSpPr>
          <p:cNvPr name="Group 14" id="14"/>
          <p:cNvGrpSpPr/>
          <p:nvPr/>
        </p:nvGrpSpPr>
        <p:grpSpPr>
          <a:xfrm rot="5400000">
            <a:off x="16660024" y="42013"/>
            <a:ext cx="1481641" cy="740820"/>
            <a:chOff x="0" y="0"/>
            <a:chExt cx="812800" cy="406400"/>
          </a:xfrm>
        </p:grpSpPr>
        <p:sp>
          <p:nvSpPr>
            <p:cNvPr name="Freeform 15" id="15"/>
            <p:cNvSpPr/>
            <p:nvPr/>
          </p:nvSpPr>
          <p:spPr>
            <a:xfrm flipH="false" flipV="false" rot="0">
              <a:off x="0" y="0"/>
              <a:ext cx="812800" cy="406400"/>
            </a:xfrm>
            <a:custGeom>
              <a:avLst/>
              <a:gdLst/>
              <a:ahLst/>
              <a:cxnLst/>
              <a:rect r="r" b="b" t="t" l="l"/>
              <a:pathLst>
                <a:path h="406400" w="812800">
                  <a:moveTo>
                    <a:pt x="609600" y="0"/>
                  </a:moveTo>
                  <a:lnTo>
                    <a:pt x="0" y="0"/>
                  </a:lnTo>
                  <a:lnTo>
                    <a:pt x="0" y="406400"/>
                  </a:lnTo>
                  <a:lnTo>
                    <a:pt x="609600" y="406400"/>
                  </a:lnTo>
                  <a:lnTo>
                    <a:pt x="812800" y="203200"/>
                  </a:lnTo>
                  <a:lnTo>
                    <a:pt x="609600" y="0"/>
                  </a:lnTo>
                  <a:close/>
                </a:path>
              </a:pathLst>
            </a:custGeom>
            <a:gradFill rotWithShape="true">
              <a:gsLst>
                <a:gs pos="0">
                  <a:srgbClr val="002E34">
                    <a:alpha val="100000"/>
                  </a:srgbClr>
                </a:gs>
                <a:gs pos="100000">
                  <a:srgbClr val="5DC1D3">
                    <a:alpha val="100000"/>
                  </a:srgbClr>
                </a:gs>
              </a:gsLst>
              <a:lin ang="0"/>
            </a:gradFill>
          </p:spPr>
        </p:sp>
        <p:sp>
          <p:nvSpPr>
            <p:cNvPr name="TextBox 16" id="16"/>
            <p:cNvSpPr txBox="true"/>
            <p:nvPr/>
          </p:nvSpPr>
          <p:spPr>
            <a:xfrm>
              <a:off x="0" y="19050"/>
              <a:ext cx="698500" cy="387350"/>
            </a:xfrm>
            <a:prstGeom prst="rect">
              <a:avLst/>
            </a:prstGeom>
          </p:spPr>
          <p:txBody>
            <a:bodyPr anchor="ctr" rtlCol="false" tIns="50800" lIns="50800" bIns="50800" rIns="50800"/>
            <a:lstStyle/>
            <a:p>
              <a:pPr algn="ctr">
                <a:lnSpc>
                  <a:spcPts val="2750"/>
                </a:lnSpc>
              </a:pPr>
            </a:p>
          </p:txBody>
        </p:sp>
      </p:grpSp>
      <p:sp>
        <p:nvSpPr>
          <p:cNvPr name="Freeform 17" id="17"/>
          <p:cNvSpPr/>
          <p:nvPr/>
        </p:nvSpPr>
        <p:spPr>
          <a:xfrm flipH="false" flipV="false" rot="-10800000">
            <a:off x="14404045" y="7935201"/>
            <a:ext cx="6211019" cy="4114800"/>
          </a:xfrm>
          <a:custGeom>
            <a:avLst/>
            <a:gdLst/>
            <a:ahLst/>
            <a:cxnLst/>
            <a:rect r="r" b="b" t="t" l="l"/>
            <a:pathLst>
              <a:path h="4114800" w="6211019">
                <a:moveTo>
                  <a:pt x="0" y="0"/>
                </a:moveTo>
                <a:lnTo>
                  <a:pt x="6211019" y="0"/>
                </a:lnTo>
                <a:lnTo>
                  <a:pt x="6211019" y="4114800"/>
                </a:lnTo>
                <a:lnTo>
                  <a:pt x="0" y="4114800"/>
                </a:lnTo>
                <a:lnTo>
                  <a:pt x="0" y="0"/>
                </a:lnTo>
                <a:close/>
              </a:path>
            </a:pathLst>
          </a:custGeom>
          <a:blipFill>
            <a:blip r:embed="rId5">
              <a:alphaModFix amt="26000"/>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10706081" y="1774983"/>
            <a:ext cx="6335224" cy="1835150"/>
          </a:xfrm>
          <a:prstGeom prst="rect">
            <a:avLst/>
          </a:prstGeom>
        </p:spPr>
        <p:txBody>
          <a:bodyPr anchor="t" rtlCol="false" tIns="0" lIns="0" bIns="0" rIns="0">
            <a:spAutoFit/>
          </a:bodyPr>
          <a:lstStyle/>
          <a:p>
            <a:pPr algn="l">
              <a:lnSpc>
                <a:spcPts val="7150"/>
              </a:lnSpc>
            </a:pPr>
            <a:r>
              <a:rPr lang="en-US" sz="6500" b="true">
                <a:solidFill>
                  <a:srgbClr val="FFFFFF"/>
                </a:solidFill>
                <a:latin typeface="TT Lakes Neue Bold"/>
                <a:ea typeface="TT Lakes Neue Bold"/>
                <a:cs typeface="TT Lakes Neue Bold"/>
                <a:sym typeface="TT Lakes Neue Bold"/>
              </a:rPr>
              <a:t>Audit, train, and adapt</a:t>
            </a:r>
          </a:p>
        </p:txBody>
      </p:sp>
      <p:sp>
        <p:nvSpPr>
          <p:cNvPr name="TextBox 19" id="19"/>
          <p:cNvSpPr txBox="true"/>
          <p:nvPr/>
        </p:nvSpPr>
        <p:spPr>
          <a:xfrm rot="0">
            <a:off x="10710504" y="3977705"/>
            <a:ext cx="5866692" cy="1323339"/>
          </a:xfrm>
          <a:prstGeom prst="rect">
            <a:avLst/>
          </a:prstGeom>
        </p:spPr>
        <p:txBody>
          <a:bodyPr anchor="t" rtlCol="false" tIns="0" lIns="0" bIns="0" rIns="0">
            <a:spAutoFit/>
          </a:bodyPr>
          <a:lstStyle/>
          <a:p>
            <a:pPr algn="l">
              <a:lnSpc>
                <a:spcPts val="2660"/>
              </a:lnSpc>
            </a:pPr>
            <a:r>
              <a:rPr lang="en-US" sz="1900">
                <a:solidFill>
                  <a:srgbClr val="98AAB6"/>
                </a:solidFill>
                <a:latin typeface="Canva Sans"/>
                <a:ea typeface="Canva Sans"/>
                <a:cs typeface="Canva Sans"/>
                <a:sym typeface="Canva Sans"/>
              </a:rPr>
              <a:t>Lorem ipsum </a:t>
            </a:r>
            <a:r>
              <a:rPr lang="en-US" sz="1900">
                <a:solidFill>
                  <a:srgbClr val="98AAB6"/>
                </a:solidFill>
                <a:latin typeface="Canva Sans"/>
                <a:ea typeface="Canva Sans"/>
                <a:cs typeface="Canva Sans"/>
                <a:sym typeface="Canva Sans"/>
              </a:rPr>
              <a:t>dolor sit amet, consectetur adipiscing elit, sed do eiusmod tempor incididunt ut labore et dolore magna aliqua. Ut enim ad minim veniam.</a:t>
            </a:r>
          </a:p>
        </p:txBody>
      </p:sp>
      <p:sp>
        <p:nvSpPr>
          <p:cNvPr name="TextBox 20" id="20"/>
          <p:cNvSpPr txBox="true"/>
          <p:nvPr/>
        </p:nvSpPr>
        <p:spPr>
          <a:xfrm rot="0">
            <a:off x="11515833" y="6085172"/>
            <a:ext cx="4753818" cy="355600"/>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hello@reallygreatsite.com</a:t>
            </a:r>
          </a:p>
        </p:txBody>
      </p:sp>
      <p:sp>
        <p:nvSpPr>
          <p:cNvPr name="TextBox 21" id="21"/>
          <p:cNvSpPr txBox="true"/>
          <p:nvPr/>
        </p:nvSpPr>
        <p:spPr>
          <a:xfrm rot="0">
            <a:off x="11516479" y="7144757"/>
            <a:ext cx="4587994" cy="355600"/>
          </a:xfrm>
          <a:prstGeom prst="rect">
            <a:avLst/>
          </a:prstGeom>
        </p:spPr>
        <p:txBody>
          <a:bodyPr anchor="t" rtlCol="false" tIns="0" lIns="0" bIns="0" rIns="0">
            <a:spAutoFit/>
          </a:bodyPr>
          <a:lstStyle/>
          <a:p>
            <a:pPr algn="l">
              <a:lnSpc>
                <a:spcPts val="2750"/>
              </a:lnSpc>
            </a:pPr>
            <a:r>
              <a:rPr lang="en-US" sz="2500" b="true">
                <a:solidFill>
                  <a:srgbClr val="FFFFFF"/>
                </a:solidFill>
                <a:latin typeface="Open Sans Bold"/>
                <a:ea typeface="Open Sans Bold"/>
                <a:cs typeface="Open Sans Bold"/>
                <a:sym typeface="Open Sans Bold"/>
              </a:rPr>
              <a:t>www.reallygreatsite.com</a:t>
            </a:r>
          </a:p>
        </p:txBody>
      </p:sp>
      <p:sp>
        <p:nvSpPr>
          <p:cNvPr name="TextBox 22" id="22"/>
          <p:cNvSpPr txBox="true"/>
          <p:nvPr/>
        </p:nvSpPr>
        <p:spPr>
          <a:xfrm rot="0">
            <a:off x="1309968" y="569627"/>
            <a:ext cx="2806486" cy="387398"/>
          </a:xfrm>
          <a:prstGeom prst="rect">
            <a:avLst/>
          </a:prstGeom>
        </p:spPr>
        <p:txBody>
          <a:bodyPr anchor="t" rtlCol="false" tIns="0" lIns="0" bIns="0" rIns="0">
            <a:spAutoFit/>
          </a:bodyPr>
          <a:lstStyle/>
          <a:p>
            <a:pPr algn="l">
              <a:lnSpc>
                <a:spcPts val="3161"/>
              </a:lnSpc>
            </a:pPr>
            <a:r>
              <a:rPr lang="en-US" sz="2258">
                <a:solidFill>
                  <a:srgbClr val="FFFFFF"/>
                </a:solidFill>
                <a:latin typeface="Inter"/>
                <a:ea typeface="Inter"/>
                <a:cs typeface="Inter"/>
                <a:sym typeface="Inter"/>
              </a:rPr>
              <a:t>Ingoude Company</a:t>
            </a:r>
          </a:p>
        </p:txBody>
      </p:sp>
      <p:sp>
        <p:nvSpPr>
          <p:cNvPr name="TextBox 23" id="23"/>
          <p:cNvSpPr txBox="true"/>
          <p:nvPr/>
        </p:nvSpPr>
        <p:spPr>
          <a:xfrm rot="0">
            <a:off x="17044598" y="431473"/>
            <a:ext cx="712493" cy="355563"/>
          </a:xfrm>
          <a:prstGeom prst="rect">
            <a:avLst/>
          </a:prstGeom>
        </p:spPr>
        <p:txBody>
          <a:bodyPr anchor="t" rtlCol="false" tIns="0" lIns="0" bIns="0" rIns="0">
            <a:spAutoFit/>
          </a:bodyPr>
          <a:lstStyle/>
          <a:p>
            <a:pPr algn="ctr">
              <a:lnSpc>
                <a:spcPts val="2750"/>
              </a:lnSpc>
            </a:pPr>
            <a:r>
              <a:rPr lang="en-US" b="true" sz="2500">
                <a:solidFill>
                  <a:srgbClr val="FFFFFF"/>
                </a:solidFill>
                <a:latin typeface="Open Sans Bold"/>
                <a:ea typeface="Open Sans Bold"/>
                <a:cs typeface="Open Sans Bold"/>
                <a:sym typeface="Open Sans Bold"/>
              </a:rPr>
              <a:t>10</a:t>
            </a:r>
          </a:p>
        </p:txBody>
      </p:sp>
      <p:grpSp>
        <p:nvGrpSpPr>
          <p:cNvPr name="Group 24" id="24"/>
          <p:cNvGrpSpPr/>
          <p:nvPr/>
        </p:nvGrpSpPr>
        <p:grpSpPr>
          <a:xfrm rot="0">
            <a:off x="10892043" y="6066122"/>
            <a:ext cx="424066" cy="424066"/>
            <a:chOff x="0" y="0"/>
            <a:chExt cx="565422" cy="565422"/>
          </a:xfrm>
        </p:grpSpPr>
        <p:grpSp>
          <p:nvGrpSpPr>
            <p:cNvPr name="Group 25" id="25"/>
            <p:cNvGrpSpPr/>
            <p:nvPr/>
          </p:nvGrpSpPr>
          <p:grpSpPr>
            <a:xfrm rot="0">
              <a:off x="0" y="0"/>
              <a:ext cx="565422" cy="56542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0404"/>
              </a:solidFill>
              <a:ln cap="sq">
                <a:no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128330" y="136032"/>
              <a:ext cx="308762" cy="308762"/>
            </a:xfrm>
            <a:custGeom>
              <a:avLst/>
              <a:gdLst/>
              <a:ahLst/>
              <a:cxnLst/>
              <a:rect r="r" b="b" t="t" l="l"/>
              <a:pathLst>
                <a:path h="308762" w="308762">
                  <a:moveTo>
                    <a:pt x="0" y="0"/>
                  </a:moveTo>
                  <a:lnTo>
                    <a:pt x="308762" y="0"/>
                  </a:lnTo>
                  <a:lnTo>
                    <a:pt x="308762" y="308762"/>
                  </a:lnTo>
                  <a:lnTo>
                    <a:pt x="0" y="3087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grpSp>
      <p:grpSp>
        <p:nvGrpSpPr>
          <p:cNvPr name="Group 29" id="29"/>
          <p:cNvGrpSpPr/>
          <p:nvPr/>
        </p:nvGrpSpPr>
        <p:grpSpPr>
          <a:xfrm rot="0">
            <a:off x="10892043" y="7100999"/>
            <a:ext cx="424066" cy="424066"/>
            <a:chOff x="0" y="0"/>
            <a:chExt cx="565422" cy="565422"/>
          </a:xfrm>
        </p:grpSpPr>
        <p:grpSp>
          <p:nvGrpSpPr>
            <p:cNvPr name="Group 30" id="30"/>
            <p:cNvGrpSpPr/>
            <p:nvPr/>
          </p:nvGrpSpPr>
          <p:grpSpPr>
            <a:xfrm rot="0">
              <a:off x="0" y="0"/>
              <a:ext cx="565422" cy="565422"/>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0404"/>
              </a:solidFill>
              <a:ln cap="sq">
                <a:noFill/>
                <a:prstDash val="solid"/>
                <a:miter/>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3" id="33"/>
            <p:cNvSpPr/>
            <p:nvPr/>
          </p:nvSpPr>
          <p:spPr>
            <a:xfrm flipH="false" flipV="false" rot="0">
              <a:off x="128330" y="129715"/>
              <a:ext cx="308762" cy="308762"/>
            </a:xfrm>
            <a:custGeom>
              <a:avLst/>
              <a:gdLst/>
              <a:ahLst/>
              <a:cxnLst/>
              <a:rect r="r" b="b" t="t" l="l"/>
              <a:pathLst>
                <a:path h="308762" w="308762">
                  <a:moveTo>
                    <a:pt x="0" y="0"/>
                  </a:moveTo>
                  <a:lnTo>
                    <a:pt x="308762" y="0"/>
                  </a:lnTo>
                  <a:lnTo>
                    <a:pt x="308762" y="308761"/>
                  </a:lnTo>
                  <a:lnTo>
                    <a:pt x="0" y="3087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grpSp>
      <p:grpSp>
        <p:nvGrpSpPr>
          <p:cNvPr name="Group 34" id="34"/>
          <p:cNvGrpSpPr/>
          <p:nvPr/>
        </p:nvGrpSpPr>
        <p:grpSpPr>
          <a:xfrm rot="0">
            <a:off x="10892043" y="8160026"/>
            <a:ext cx="424066" cy="424066"/>
            <a:chOff x="0" y="0"/>
            <a:chExt cx="565422" cy="565422"/>
          </a:xfrm>
        </p:grpSpPr>
        <p:grpSp>
          <p:nvGrpSpPr>
            <p:cNvPr name="Group 35" id="35"/>
            <p:cNvGrpSpPr/>
            <p:nvPr/>
          </p:nvGrpSpPr>
          <p:grpSpPr>
            <a:xfrm rot="0">
              <a:off x="0" y="0"/>
              <a:ext cx="565422" cy="565422"/>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0404"/>
              </a:solidFill>
              <a:ln cap="sq">
                <a:noFill/>
                <a:prstDash val="solid"/>
                <a:miter/>
              </a:ln>
            </p:spPr>
          </p:sp>
          <p:sp>
            <p:nvSpPr>
              <p:cNvPr name="TextBox 37" id="3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8" id="38"/>
            <p:cNvSpPr/>
            <p:nvPr/>
          </p:nvSpPr>
          <p:spPr>
            <a:xfrm flipH="false" flipV="false" rot="0">
              <a:off x="170312" y="121566"/>
              <a:ext cx="224797" cy="322290"/>
            </a:xfrm>
            <a:custGeom>
              <a:avLst/>
              <a:gdLst/>
              <a:ahLst/>
              <a:cxnLst/>
              <a:rect r="r" b="b" t="t" l="l"/>
              <a:pathLst>
                <a:path h="322290" w="224797">
                  <a:moveTo>
                    <a:pt x="0" y="0"/>
                  </a:moveTo>
                  <a:lnTo>
                    <a:pt x="224797" y="0"/>
                  </a:lnTo>
                  <a:lnTo>
                    <a:pt x="224797" y="322290"/>
                  </a:lnTo>
                  <a:lnTo>
                    <a:pt x="0" y="32229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DAHPfGBI3Hg</dc:identifier>
  <dcterms:modified xsi:type="dcterms:W3CDTF">2011-08-01T06:04:30Z</dcterms:modified>
  <cp:revision>1</cp:revision>
  <dc:title>Black and Blue Modern Cybersecurity Presentation</dc:title>
</cp:coreProperties>
</file>